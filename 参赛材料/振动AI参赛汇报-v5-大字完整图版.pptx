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8539869a244c37" /><Relationship Type="http://schemas.openxmlformats.org/officeDocument/2006/relationships/extended-properties" Target="/docProps/app.xml" Id="R836ef6c5cc4d4a0d" /><Relationship Type="http://schemas.openxmlformats.org/officeDocument/2006/relationships/officeDocument" Target="/ppt/presentation.xml" Id="R604ff507efc143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c5bbf0402f4212"/>
  </p:sldMasterIdLst>
  <p:notesMasterIdLst>
    <p:notesMasterId xmlns:r="http://schemas.openxmlformats.org/officeDocument/2006/relationships" r:id="R7bd65152c6bc4fd3"/>
  </p:notesMasterIdLst>
  <p:sldIdLst>
    <p:sldId xmlns:r="http://schemas.openxmlformats.org/officeDocument/2006/relationships" id="256" r:id="R0e96d78c976244ea"/>
    <p:sldId xmlns:r="http://schemas.openxmlformats.org/officeDocument/2006/relationships" id="257" r:id="Rfd82e39762bd49a5"/>
    <p:sldId xmlns:r="http://schemas.openxmlformats.org/officeDocument/2006/relationships" id="258" r:id="R09104f62bd184f80"/>
    <p:sldId xmlns:r="http://schemas.openxmlformats.org/officeDocument/2006/relationships" id="259" r:id="R56f73c15838f467c"/>
    <p:sldId xmlns:r="http://schemas.openxmlformats.org/officeDocument/2006/relationships" id="260" r:id="R4cee68a53fd847c7"/>
    <p:sldId xmlns:r="http://schemas.openxmlformats.org/officeDocument/2006/relationships" id="261" r:id="R54497d1247784848"/>
    <p:sldId xmlns:r="http://schemas.openxmlformats.org/officeDocument/2006/relationships" id="262" r:id="Rc703d44152de4d11"/>
    <p:sldId xmlns:r="http://schemas.openxmlformats.org/officeDocument/2006/relationships" id="263" r:id="R2f1d58ef670843de"/>
    <p:sldId xmlns:r="http://schemas.openxmlformats.org/officeDocument/2006/relationships" id="264" r:id="R09ce8d57910747da"/>
    <p:sldId xmlns:r="http://schemas.openxmlformats.org/officeDocument/2006/relationships" id="265" r:id="R4234dac9971b439b"/>
    <p:sldId xmlns:r="http://schemas.openxmlformats.org/officeDocument/2006/relationships" id="266" r:id="R866f2e57ccc64f3f"/>
    <p:sldId xmlns:r="http://schemas.openxmlformats.org/officeDocument/2006/relationships" id="267" r:id="Ra6dadd68b62a4626"/>
    <p:sldId xmlns:r="http://schemas.openxmlformats.org/officeDocument/2006/relationships" id="268" r:id="Rc30bc3bceb474444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d9380fa28a4740" /><Relationship Type="http://schemas.openxmlformats.org/officeDocument/2006/relationships/slideMaster" Target="/ppt/slideMasters/slideMaster1.xml" Id="R07c5bbf0402f4212" /><Relationship Type="http://schemas.openxmlformats.org/officeDocument/2006/relationships/notesMaster" Target="/ppt/notesMasters/notesMaster1.xml" Id="R7bd65152c6bc4fd3" /><Relationship Type="http://schemas.openxmlformats.org/officeDocument/2006/relationships/presProps" Target="/ppt/presProps.xml" Id="R1eb9c5bcf75c49bd" /><Relationship Type="http://schemas.openxmlformats.org/officeDocument/2006/relationships/viewProps" Target="/ppt/viewProps.xml" Id="Rd649ea803a1a4245" /><Relationship Type="http://schemas.openxmlformats.org/officeDocument/2006/relationships/tableStyles" Target="/ppt/tableStyles.xml" Id="R49904e16698b4285" /><Relationship Type="http://schemas.openxmlformats.org/officeDocument/2006/relationships/slide" Target="/ppt/slides/slide1.xml" Id="R0e96d78c976244ea" /><Relationship Type="http://schemas.openxmlformats.org/officeDocument/2006/relationships/slide" Target="/ppt/slides/slide2.xml" Id="Rfd82e39762bd49a5" /><Relationship Type="http://schemas.openxmlformats.org/officeDocument/2006/relationships/slide" Target="/ppt/slides/slide3.xml" Id="R09104f62bd184f80" /><Relationship Type="http://schemas.openxmlformats.org/officeDocument/2006/relationships/slide" Target="/ppt/slides/slide4.xml" Id="R56f73c15838f467c" /><Relationship Type="http://schemas.openxmlformats.org/officeDocument/2006/relationships/slide" Target="/ppt/slides/slide5.xml" Id="R4cee68a53fd847c7" /><Relationship Type="http://schemas.openxmlformats.org/officeDocument/2006/relationships/slide" Target="/ppt/slides/slide6.xml" Id="R54497d1247784848" /><Relationship Type="http://schemas.openxmlformats.org/officeDocument/2006/relationships/slide" Target="/ppt/slides/slide7.xml" Id="Rc703d44152de4d11" /><Relationship Type="http://schemas.openxmlformats.org/officeDocument/2006/relationships/slide" Target="/ppt/slides/slide8.xml" Id="R2f1d58ef670843de" /><Relationship Type="http://schemas.openxmlformats.org/officeDocument/2006/relationships/slide" Target="/ppt/slides/slide9.xml" Id="R09ce8d57910747da" /><Relationship Type="http://schemas.openxmlformats.org/officeDocument/2006/relationships/slide" Target="/ppt/slides/slide10.xml" Id="R4234dac9971b439b" /><Relationship Type="http://schemas.openxmlformats.org/officeDocument/2006/relationships/slide" Target="/ppt/slides/slide11.xml" Id="R866f2e57ccc64f3f" /><Relationship Type="http://schemas.openxmlformats.org/officeDocument/2006/relationships/slide" Target="/ppt/slides/slide12.xml" Id="Ra6dadd68b62a4626" /><Relationship Type="http://schemas.openxmlformats.org/officeDocument/2006/relationships/slide" Target="/ppt/slides/slide13.xml" Id="Rc30bc3bceb4744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fb5d1c23ac48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d118b150cc45c3" /><Relationship Type="http://schemas.openxmlformats.org/officeDocument/2006/relationships/notesMaster" Target="/ppt/notesMasters/notesMaster1.xml" Id="R35d68eb6acd340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74d44dd3e340c2" /><Relationship Type="http://schemas.openxmlformats.org/officeDocument/2006/relationships/notesMaster" Target="/ppt/notesMasters/notesMaster1.xml" Id="R30454becda4843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ed4f181cfd47ca" /><Relationship Type="http://schemas.openxmlformats.org/officeDocument/2006/relationships/notesMaster" Target="/ppt/notesMasters/notesMaster1.xml" Id="R7540077e33d34c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9e805df0964f9c" /><Relationship Type="http://schemas.openxmlformats.org/officeDocument/2006/relationships/notesMaster" Target="/ppt/notesMasters/notesMaster1.xml" Id="R8403e41f7b1b41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ab13f40e814b27" /><Relationship Type="http://schemas.openxmlformats.org/officeDocument/2006/relationships/notesMaster" Target="/ppt/notesMasters/notesMaster1.xml" Id="R0358b8b4838843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7d42c609334c59" /><Relationship Type="http://schemas.openxmlformats.org/officeDocument/2006/relationships/notesMaster" Target="/ppt/notesMasters/notesMaster1.xml" Id="R09fdf7d054f24f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1e7d6c32d24532" /><Relationship Type="http://schemas.openxmlformats.org/officeDocument/2006/relationships/notesMaster" Target="/ppt/notesMasters/notesMaster1.xml" Id="R65c036516ee948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728629fcee41d4" /><Relationship Type="http://schemas.openxmlformats.org/officeDocument/2006/relationships/notesMaster" Target="/ppt/notesMasters/notesMaster1.xml" Id="R94f03e92987b4f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207c6ad99f49aa" /><Relationship Type="http://schemas.openxmlformats.org/officeDocument/2006/relationships/notesMaster" Target="/ppt/notesMasters/notesMaster1.xml" Id="R6595d49abaed42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49c4fccc1c410d" /><Relationship Type="http://schemas.openxmlformats.org/officeDocument/2006/relationships/notesMaster" Target="/ppt/notesMasters/notesMaster1.xml" Id="Rd2049932cb3f40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3cd5dc63924511" /><Relationship Type="http://schemas.openxmlformats.org/officeDocument/2006/relationships/notesMaster" Target="/ppt/notesMasters/notesMaster1.xml" Id="Rfb69d7a7af0747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c7a91e89e241cc" /><Relationship Type="http://schemas.openxmlformats.org/officeDocument/2006/relationships/notesMaster" Target="/ppt/notesMasters/notesMaster1.xml" Id="R349c03a870f447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7d26ac2dc54c44" /><Relationship Type="http://schemas.openxmlformats.org/officeDocument/2006/relationships/notesMaster" Target="/ppt/notesMasters/notesMaster1.xml" Id="Rcf747bd4c0354c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参赛名称、团队信息沿用用户提供的 v4 原稿。当前应用承载用户提供的六状态动力学模型。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依据当前 main.js、assistant.js、analysis.js 和 physics.py。计算耗时随参数规模、设备和版本变化，取消原稿未经限定的 3 秒宣传。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完整工作区截图来自本次快速试算：100 周期、60 周期后输出、每周期 96 步。演示数据不是默认全量结果。AI 调用另需网络与可用服务。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文本 PDF 依赖可提取文字层，扫描文件不能视为已经具备 OCR。模型只在已实现参数与动作范围内工作。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完整四图截图，来源于当前项目快速试算。时域图为输出时间段抽样显示。相轨线默认 y5–y6，y6 为方程中的 dy5/dt，取末段连续积分点。庞加莱截面按激励周期采样。不能仅凭图形自动认定混沌或稳态。功率谱为去均值、Hann 窗、单边密度标度。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图片为当前项目白底功率谱导出渲染，使用快速试算数据。PNG 设置范围 72–1200 DPI，2–16 英寸，同时受 2400 万像素上限约束，不能任意组合最大值。SVG 支持时域、功率谱、相轨线、庞加莱截面和附加分析。论文是否可用还需核对单位、字号与目标期刊规范。CSV 区分图表数据与运行结果，取消不加限定的“全量导出”承诺。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 physics.py 的 Solver.F 和 Solver.RK4。该四阶段 √2 系数格式属于原代码保留实现，删除原稿“Fehlberg √2 节点”的不准确归类。源码中的系数与求解实现应结合步长收敛测试评估，保留原实现不等于已经完成物理验证。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来源：assistant.js、ai_workflow.py。模型服务需兼容当前接口协议。文件只作为输入资料，不覆盖用户指令或自动作为可信操作指令。AI 不生成替代求解器的仿真曲线。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快速试算和长时浏览器数值沿用用户原稿及已有验证记录，Python 默认值来自原始默认值验证.json。长时差异约 0.0301%。这些历史对比不代表本次已重新运行所有全量配置。删除原稿对差异来源于 sin 舍入的确定性归因，现有证据不足以唯一定位误差来源。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来源：engine.py、analysis.js。原加速度附加图已改为最大有限时间李雅普诺夫指数。关联维数使用末段投影数据形成 log C(r)–log r 参考曲线，受尺度区间、采样和投影影响，不作为严格维数证明。图片来自快速试算，展示完整参考曲线。代理模型实验已移除，不再列为功能。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应用价值为工具用途描述，尚不等同于已经验证的用户规模或效率提升。扫描 PDF OCR、实测验证和完整公共服务运营属于后续方向。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团队姓名与赛道沿用用户提供的 v4 原稿。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540015d5734e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994266e87c489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fe5478c6c847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88d22621c743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9f6f25b8c4de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b41dcddb8447c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e1f90a28ce417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350b1b782b4ea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d1b4c8f7540f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832149238d49e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c7cf2a4f8b47f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7E13F7-5A25-4F59-98EB-AA57AC9E745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8A4118B-1C01-4855-BD0A-DE06B2661E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6C4EC57-64AD-4082-BD60-907EA9FD2A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B69D081-BA2D-48F1-80A3-D876D88A60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C7B282-FE03-4F43-9792-6DF2467DC5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1DDA23C-A8FF-4210-871D-69B63C95F8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781961-397B-44C2-BE53-FBFB50A2683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5AB7C18-87C3-4E7B-8EC5-AC4550E4B5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9D2A58-6549-43F5-939E-0D41C04DDD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E5BD07-D34B-4FB4-9A99-FD68523D12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BB3653-D1F1-41F2-AED5-B34A4D6CA1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C75184-B59F-453F-A771-E481BE39F8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69247A6-CEBB-4B0E-AA06-9E32C1BD01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7148B87-E05B-4349-BE98-63D9DF608A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29AB44-E9E2-42CC-95E6-B37027D480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F4D0A2-3F65-4429-B412-EA88C6047D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35BB97-E378-444C-9B49-799195BCA4B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3D5FF41-742E-4129-9E2D-CA148383892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AB2B77E-C882-4D9B-A831-699B7B00FC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10/21/2026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59482CC-C874-49DB-8DE0-238666F5AE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BF3972D-C35C-4A31-9C4D-CA0495F0F9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1B0E15-5D63-4049-8D72-8D04C77280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C0C4AD6-6340-43CE-AB16-B96E92858D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F67D5FC-AC41-490A-BEBF-BE23226F182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37F2B13-3C2B-49A8-AAE9-7D392854617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9B3FE35-FA40-459F-BE9F-DA3ED2A8D22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BA38EA3-A105-42AE-9B02-49ADB7FFBA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10/21/2026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2104056-82B1-4126-8391-C07ABFEC70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E3CC2F4-A4C3-4317-AEE6-5C1C365556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E4102A-CE82-4020-85B3-364A0D8523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96FA916-D47E-464A-AA26-871898AFD2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10/21/2026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9E6C96D-AB99-41A7-9D8D-847D3803DF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7AF3B4C-CAC8-45DA-B62D-D21F9CFDFA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BE50BE0-ECD8-4863-8333-F8A7F761BB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10/21/2026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E0F09C8-72BE-4C6B-A3B5-EBF3395FC0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AFBD265-6160-4194-9151-7D439257A7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DA9D7EE-2A02-498D-9F44-79C4F654DE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EBADC26-994A-4D3A-9808-8EE852AB61E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DC57344-C59B-45BA-8423-EE68140EC34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665783A-708D-4406-A9CC-0271DED306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10/21/2026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E8CFC0C-36BB-4900-A876-05CEAE10DE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6B3A6D4-50E7-45F5-8A8A-33426EC875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149121-5A08-45CA-8835-BE84066736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FD1E688-4013-458C-BFAE-D00CA06CCC5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FA2DCAA-AB20-40EE-9D1D-C441CC4EC7F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16CFD4F-D23A-4774-8C9A-B3FF47F55B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10/21/2026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03EF701-D8AF-491C-B6F4-0D18B3C260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4D30152-8E41-457E-8A75-8C8152132C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2C2DA8-689E-4170-A6F4-192DA4BA5F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7736774-1047-405A-B89B-5CC3ACEDA4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904F1E8-938D-4FC3-BD0B-5E75602E34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89472DC-F51F-4798-8AEA-785F00E0E3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44287D-8589-4B7A-8C63-8B338C8078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F381ABE-F037-494C-B208-EF3E2E54AC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D601149-5053-4738-9E51-A72ABAFDCB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6B59A58-8FE3-45F2-8267-DF49772234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8D87E78-6051-4BDB-B086-02D547D714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ADBA93-2E2B-4E67-8A76-87CB56E2F8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d7a400b18642fa" /><Relationship Type="http://schemas.openxmlformats.org/officeDocument/2006/relationships/slideLayout" Target="/ppt/slideLayouts/slideLayout1.xml" Id="R50ebcfeb6a85469c" /><Relationship Type="http://schemas.openxmlformats.org/officeDocument/2006/relationships/slideLayout" Target="/ppt/slideLayouts/slideLayout2.xml" Id="Rb68fd4fe8bbd4093" /><Relationship Type="http://schemas.openxmlformats.org/officeDocument/2006/relationships/slideLayout" Target="/ppt/slideLayouts/slideLayout3.xml" Id="Rfb139aa529ae4806" /><Relationship Type="http://schemas.openxmlformats.org/officeDocument/2006/relationships/slideLayout" Target="/ppt/slideLayouts/slideLayout4.xml" Id="R8604c73039be46b7" /><Relationship Type="http://schemas.openxmlformats.org/officeDocument/2006/relationships/slideLayout" Target="/ppt/slideLayouts/slideLayout5.xml" Id="R6a5ade0228d14239" /><Relationship Type="http://schemas.openxmlformats.org/officeDocument/2006/relationships/slideLayout" Target="/ppt/slideLayouts/slideLayout6.xml" Id="R41498d9453ef4214" /><Relationship Type="http://schemas.openxmlformats.org/officeDocument/2006/relationships/slideLayout" Target="/ppt/slideLayouts/slideLayout7.xml" Id="Rc2002cf393de4086" /><Relationship Type="http://schemas.openxmlformats.org/officeDocument/2006/relationships/slideLayout" Target="/ppt/slideLayouts/slideLayout8.xml" Id="R0ae82b9a6a254591" /><Relationship Type="http://schemas.openxmlformats.org/officeDocument/2006/relationships/slideLayout" Target="/ppt/slideLayouts/slideLayout9.xml" Id="R63345a067cba4451" /><Relationship Type="http://schemas.openxmlformats.org/officeDocument/2006/relationships/slideLayout" Target="/ppt/slideLayouts/slideLayout10.xml" Id="R71a56f3b436d488b" /><Relationship Type="http://schemas.openxmlformats.org/officeDocument/2006/relationships/slideLayout" Target="/ppt/slideLayouts/slideLayout11.xml" Id="R333f3454ac6f421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F20ECC7-EE4C-401E-86DC-CB5AE488CB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4AB531-E4C9-4D45-91A1-BE0F60C521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C7B57CD-83AD-45C9-9667-83BEC262C4C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10/21/2026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02667D-CE5D-447E-BA39-688BC1232B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B123F1B-8236-4C7E-BD61-19E8F839A1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ebcfeb6a85469c"/>
    <p:sldLayoutId xmlns:r="http://schemas.openxmlformats.org/officeDocument/2006/relationships" id="2147483650" r:id="Rb68fd4fe8bbd4093"/>
    <p:sldLayoutId xmlns:r="http://schemas.openxmlformats.org/officeDocument/2006/relationships" id="2147483651" r:id="Rfb139aa529ae4806"/>
    <p:sldLayoutId xmlns:r="http://schemas.openxmlformats.org/officeDocument/2006/relationships" id="2147483652" r:id="R8604c73039be46b7"/>
    <p:sldLayoutId xmlns:r="http://schemas.openxmlformats.org/officeDocument/2006/relationships" id="2147483653" r:id="R6a5ade0228d14239"/>
    <p:sldLayoutId xmlns:r="http://schemas.openxmlformats.org/officeDocument/2006/relationships" id="2147483654" r:id="R41498d9453ef4214"/>
    <p:sldLayoutId xmlns:r="http://schemas.openxmlformats.org/officeDocument/2006/relationships" id="2147483655" r:id="Rc2002cf393de4086"/>
    <p:sldLayoutId xmlns:r="http://schemas.openxmlformats.org/officeDocument/2006/relationships" id="2147483656" r:id="R0ae82b9a6a254591"/>
    <p:sldLayoutId xmlns:r="http://schemas.openxmlformats.org/officeDocument/2006/relationships" id="2147483657" r:id="R63345a067cba4451"/>
    <p:sldLayoutId xmlns:r="http://schemas.openxmlformats.org/officeDocument/2006/relationships" id="2147483658" r:id="R71a56f3b436d488b"/>
    <p:sldLayoutId xmlns:r="http://schemas.openxmlformats.org/officeDocument/2006/relationships" id="2147483659" r:id="R333f3454ac6f4210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467edf988b749f4" /><Relationship Type="http://schemas.openxmlformats.org/officeDocument/2006/relationships/notesSlide" Target="/ppt/notesSlides/notesSlide1.xml" Id="R17e8caf14e064f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38e9fa6367c4048" /><Relationship Type="http://schemas.openxmlformats.org/officeDocument/2006/relationships/notesSlide" Target="/ppt/notesSlides/notesSlide2.xml" Id="R420dd54b72e841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958536fbc804dad" /><Relationship Type="http://schemas.openxmlformats.org/officeDocument/2006/relationships/notesSlide" Target="/ppt/notesSlides/notesSlide3.xml" Id="Ra21f8f015c8c4f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7b4882d2aa6415d" /><Relationship Type="http://schemas.openxmlformats.org/officeDocument/2006/relationships/image" Target="/ppt/media/image.png" Id="R5c362cc8b7ae400c" /><Relationship Type="http://schemas.openxmlformats.org/officeDocument/2006/relationships/notesSlide" Target="/ppt/notesSlides/notesSlide4.xml" Id="R3ea76ac4c91e4e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a559d51335e4c5d" /><Relationship Type="http://schemas.openxmlformats.org/officeDocument/2006/relationships/notesSlide" Target="/ppt/notesSlides/notesSlide5.xml" Id="R48d08cd73b5945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7944600d6d425b" /><Relationship Type="http://schemas.openxmlformats.org/officeDocument/2006/relationships/image" Target="/ppt/media/image2.png" Id="Rf7fa3a38643f4ce9" /><Relationship Type="http://schemas.openxmlformats.org/officeDocument/2006/relationships/notesSlide" Target="/ppt/notesSlides/notesSlide6.xml" Id="R4c226e3001c84f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962e7f34b84f0f" /><Relationship Type="http://schemas.openxmlformats.org/officeDocument/2006/relationships/image" Target="/ppt/media/image3.png" Id="R00a7f83ec1f74638" /><Relationship Type="http://schemas.openxmlformats.org/officeDocument/2006/relationships/notesSlide" Target="/ppt/notesSlides/notesSlide7.xml" Id="R2f9afd5a62ee4e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ad10f686c754082" /><Relationship Type="http://schemas.openxmlformats.org/officeDocument/2006/relationships/notesSlide" Target="/ppt/notesSlides/notesSlide8.xml" Id="R3ea10b934f1243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96fc4af020045b4" /><Relationship Type="http://schemas.openxmlformats.org/officeDocument/2006/relationships/notesSlide" Target="/ppt/notesSlides/notesSlide9.xml" Id="Re2120f638ccf45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bafc776918644c0" /><Relationship Type="http://schemas.openxmlformats.org/officeDocument/2006/relationships/notesSlide" Target="/ppt/notesSlides/notesSlide10.xml" Id="R382f9291e9534f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7e54d79db7d4c28" /><Relationship Type="http://schemas.openxmlformats.org/officeDocument/2006/relationships/image" Target="/ppt/media/image4.png" Id="Rc06eb3a9754b4360" /><Relationship Type="http://schemas.openxmlformats.org/officeDocument/2006/relationships/notesSlide" Target="/ppt/notesSlides/notesSlide11.xml" Id="R74044a54655b4a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0fb07ba6cf47f9" /><Relationship Type="http://schemas.openxmlformats.org/officeDocument/2006/relationships/notesSlide" Target="/ppt/notesSlides/notesSlide12.xml" Id="Rc58cf190a81645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5b92d4cccf488a" /><Relationship Type="http://schemas.openxmlformats.org/officeDocument/2006/relationships/notesSlide" Target="/ppt/notesSlides/notesSlide13.xml" Id="R5f392db1b9f848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2026 武汉 1024 人工智能创新应用黑客松">
            <a:extLst xmlns:a="http://schemas.openxmlformats.org/drawingml/2006/main">
              <a:ext uri="{FF2B5EF4-FFF2-40B4-BE49-F238E27FC236}">
                <a16:creationId xmlns:a16="http://schemas.microsoft.com/office/drawing/2014/main" id="{F9E76CB1-5F39-40E0-9C2A-01C0BB7F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2026 武汉 1024 人工智能创新应用黑客松</a:t>
            </a:r>
          </a:p>
        </p:txBody>
      </p:sp>
      <p:sp>
        <p:nvSpPr>
          <p:cNvPr id="2" name="振动 AI 实验助手">
            <a:extLst xmlns:a="http://schemas.openxmlformats.org/drawingml/2006/main">
              <a:ext uri="{FF2B5EF4-FFF2-40B4-BE49-F238E27FC236}">
                <a16:creationId xmlns:a16="http://schemas.microsoft.com/office/drawing/2014/main" id="{34C352A4-5AFB-484A-926B-D936BEB1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7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57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57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57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57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57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57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57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57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57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57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57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振动 AI 实验助手</a:t>
            </a:r>
          </a:p>
        </p:txBody>
      </p:sp>
      <p:sp>
        <p:nvSpPr>
          <p:cNvPr id="3" name="面向非线性动力学的浏览器仿真实验台">
            <a:extLst xmlns:a="http://schemas.openxmlformats.org/drawingml/2006/main">
              <a:ext uri="{FF2B5EF4-FFF2-40B4-BE49-F238E27FC236}">
                <a16:creationId xmlns:a16="http://schemas.microsoft.com/office/drawing/2014/main" id="{379A84A3-FFE2-4166-961F-46B039AE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8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8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8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8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8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8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8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8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8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8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面向非线性动力学的浏览器仿真实验台</a:t>
            </a:r>
          </a:p>
        </p:txBody>
      </p:sp>
      <p:sp>
        <p:nvSpPr>
          <p:cNvPr id="4" name="自然语言与手动调参，仿真分析与论文出图">
            <a:extLst xmlns:a="http://schemas.openxmlformats.org/drawingml/2006/main">
              <a:ext uri="{FF2B5EF4-FFF2-40B4-BE49-F238E27FC236}">
                <a16:creationId xmlns:a16="http://schemas.microsoft.com/office/drawing/2014/main" id="{56BDBE0C-923D-4EC0-BEDD-BD54312D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自然语言与手动调参，仿真分析与论文出图</a:t>
            </a:r>
          </a:p>
        </p:txBody>
      </p:sp>
      <p:sp>
        <p:nvSpPr>
          <p:cNvPr id="5" name="科研创新赛道">
            <a:extLst xmlns:a="http://schemas.openxmlformats.org/drawingml/2006/main">
              <a:ext uri="{FF2B5EF4-FFF2-40B4-BE49-F238E27FC236}">
                <a16:creationId xmlns:a16="http://schemas.microsoft.com/office/drawing/2014/main" id="{9F93E2D1-0DD9-4741-9071-96A69DCE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科研创新赛道</a:t>
            </a:r>
          </a:p>
        </p:txBody>
      </p:sp>
      <p:sp>
        <p:nvSpPr>
          <p:cNvPr id="6" name="Team Falcons 队">
            <a:extLst xmlns:a="http://schemas.openxmlformats.org/drawingml/2006/main">
              <a:ext uri="{FF2B5EF4-FFF2-40B4-BE49-F238E27FC236}">
                <a16:creationId xmlns:a16="http://schemas.microsoft.com/office/drawing/2014/main" id="{EBE19AFE-DA0A-4397-BF1C-CD7A44DA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Team Falcons 队</a:t>
            </a:r>
          </a:p>
        </p:txBody>
      </p:sp>
    </p:spTree>
    <p:extLst>
      <p:ext uri="{BB962C8B-B14F-4D97-AF65-F5344CB8AC3E}">
        <p14:creationId xmlns:p14="http://schemas.microsoft.com/office/powerpoint/2010/main" val="9152175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项目问题：调参、核对结果与出图">
            <a:extLst xmlns:a="http://schemas.openxmlformats.org/drawingml/2006/main">
              <a:ext uri="{FF2B5EF4-FFF2-40B4-BE49-F238E27FC236}">
                <a16:creationId xmlns:a16="http://schemas.microsoft.com/office/drawing/2014/main" id="{EF40962D-6487-488A-99B6-F40EED3B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项目问题：调参、核对结果与出图</a:t>
            </a:r>
          </a:p>
        </p:txBody>
      </p:sp>
      <p:sp>
        <p:nvSpPr>
          <p:cNvPr id="2" name="参数修改费时">
            <a:extLst xmlns:a="http://schemas.openxmlformats.org/drawingml/2006/main">
              <a:ext uri="{FF2B5EF4-FFF2-40B4-BE49-F238E27FC236}">
                <a16:creationId xmlns:a16="http://schemas.microsoft.com/office/drawing/2014/main" id="{B55BB393-98A3-402F-9E0B-53EEEBBB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1055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参数修改费时</a:t>
            </a:r>
          </a:p>
        </p:txBody>
      </p:sp>
      <p:sp>
        <p:nvSpPr>
          <p:cNvPr id="3" name="参数散落在代码中，反复对比实验需要多次修改和运行">
            <a:extLst xmlns:a="http://schemas.openxmlformats.org/drawingml/2006/main">
              <a:ext uri="{FF2B5EF4-FFF2-40B4-BE49-F238E27FC236}">
                <a16:creationId xmlns:a16="http://schemas.microsoft.com/office/drawing/2014/main" id="{C22786C4-E984-4AFF-BA4C-72F8B71E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1055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参数散落在代码中，反复对比实验需要多次修改和运行。</a:t>
            </a:r>
          </a:p>
        </p:txBody>
      </p:sp>
      <p:sp>
        <p:nvSpPr>
          <p:cNvPr id="4" name="结果缺少上下文">
            <a:extLst xmlns:a="http://schemas.openxmlformats.org/drawingml/2006/main">
              <a:ext uri="{FF2B5EF4-FFF2-40B4-BE49-F238E27FC236}">
                <a16:creationId xmlns:a16="http://schemas.microsoft.com/office/drawing/2014/main" id="{307528A0-2EA6-4B81-B2E4-89334589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055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结果缺少上下文</a:t>
            </a:r>
          </a:p>
        </p:txBody>
      </p:sp>
      <p:sp>
        <p:nvSpPr>
          <p:cNvPr id="5" name="图形、参数与统计量分开保存，后续复核容易混淆。">
            <a:extLst xmlns:a="http://schemas.openxmlformats.org/drawingml/2006/main">
              <a:ext uri="{FF2B5EF4-FFF2-40B4-BE49-F238E27FC236}">
                <a16:creationId xmlns:a16="http://schemas.microsoft.com/office/drawing/2014/main" id="{9A5F1005-5626-48A7-BC20-669D8CBD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1055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图形、参数与统计量分开保存，后续复核容易混淆。</a:t>
            </a:r>
          </a:p>
        </p:txBody>
      </p:sp>
      <p:sp>
        <p:nvSpPr>
          <p:cNvPr id="6" name="论文出图需要返工">
            <a:extLst xmlns:a="http://schemas.openxmlformats.org/drawingml/2006/main">
              <a:ext uri="{FF2B5EF4-FFF2-40B4-BE49-F238E27FC236}">
                <a16:creationId xmlns:a16="http://schemas.microsoft.com/office/drawing/2014/main" id="{983D8BFA-516A-4E10-8F45-6A39DD4A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1055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论文出图需要返工</a:t>
            </a:r>
          </a:p>
        </p:txBody>
      </p:sp>
      <p:sp>
        <p:nvSpPr>
          <p:cNvPr id="7" name="截图分辨率与坐标格式不统一，还要回到绘图软件整理">
            <a:extLst xmlns:a="http://schemas.openxmlformats.org/drawingml/2006/main">
              <a:ext uri="{FF2B5EF4-FFF2-40B4-BE49-F238E27FC236}">
                <a16:creationId xmlns:a16="http://schemas.microsoft.com/office/drawing/2014/main" id="{2F76F91E-C32D-44DD-AA3B-5AD49B94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1055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截图分辨率与坐标格式不统一，还要回到绘图软件整理。</a:t>
            </a:r>
          </a:p>
        </p:txBody>
      </p:sp>
    </p:spTree>
    <p:extLst>
      <p:ext uri="{BB962C8B-B14F-4D97-AF65-F5344CB8AC3E}">
        <p14:creationId xmlns:p14="http://schemas.microsoft.com/office/powerpoint/2010/main" val="2763607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项目方案：一个可操作的仿真实验台">
            <a:extLst xmlns:a="http://schemas.openxmlformats.org/drawingml/2006/main">
              <a:ext uri="{FF2B5EF4-FFF2-40B4-BE49-F238E27FC236}">
                <a16:creationId xmlns:a16="http://schemas.microsoft.com/office/drawing/2014/main" id="{0F1AC83B-075F-45A2-929A-7AF5A9D0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项目方案：一个可操作的仿真实验台</a:t>
            </a:r>
          </a:p>
        </p:txBody>
      </p:sp>
      <p:sp>
        <p:nvSpPr>
          <p:cNvPr id="2" name="在浏览器中完成参数设置、数值求解和结果整理">
            <a:extLst xmlns:a="http://schemas.openxmlformats.org/drawingml/2006/main">
              <a:ext uri="{FF2B5EF4-FFF2-40B4-BE49-F238E27FC236}">
                <a16:creationId xmlns:a16="http://schemas.microsoft.com/office/drawing/2014/main" id="{4900692F-AA6C-450D-8FF0-5BBB6F00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7637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7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7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7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7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7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7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7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7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7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在浏览器中完成参数设置、数值求解和结果整理</a:t>
            </a:r>
          </a:p>
        </p:txBody>
      </p:sp>
      <p:sp>
        <p:nvSpPr>
          <p:cNvPr id="3" name="同一套参数，支持两种操作">
            <a:extLst xmlns:a="http://schemas.openxmlformats.org/drawingml/2006/main">
              <a:ext uri="{FF2B5EF4-FFF2-40B4-BE49-F238E27FC236}">
                <a16:creationId xmlns:a16="http://schemas.microsoft.com/office/drawing/2014/main" id="{D5E09193-5C2D-48D2-A4CD-1161CEFF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1055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同一套参数，支持两种操作</a:t>
            </a:r>
          </a:p>
        </p:txBody>
      </p:sp>
      <p:sp>
        <p:nvSpPr>
          <p:cNvPr id="4" name="手动修改参数，或用自然语言提出实验需求。">
            <a:extLst xmlns:a="http://schemas.openxmlformats.org/drawingml/2006/main">
              <a:ext uri="{FF2B5EF4-FFF2-40B4-BE49-F238E27FC236}">
                <a16:creationId xmlns:a16="http://schemas.microsoft.com/office/drawing/2014/main" id="{6582071C-0D9D-4E17-B626-1DF66B0B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1055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手动修改参数，或用自然语言提出实验需求。</a:t>
            </a:r>
          </a:p>
        </p:txBody>
      </p:sp>
      <p:sp>
        <p:nvSpPr>
          <p:cNvPr id="5" name="AI 解释需求，本地求解器计算">
            <a:extLst xmlns:a="http://schemas.openxmlformats.org/drawingml/2006/main">
              <a:ext uri="{FF2B5EF4-FFF2-40B4-BE49-F238E27FC236}">
                <a16:creationId xmlns:a16="http://schemas.microsoft.com/office/drawing/2014/main" id="{3CEF281D-54B9-424E-9231-4E15AC45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055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AI 解释需求，本地求解器计算</a:t>
            </a:r>
          </a:p>
        </p:txBody>
      </p:sp>
      <p:sp>
        <p:nvSpPr>
          <p:cNvPr id="6" name="参数经校验后进入原动力学模型，结果来自实际积分。">
            <a:extLst xmlns:a="http://schemas.openxmlformats.org/drawingml/2006/main">
              <a:ext uri="{FF2B5EF4-FFF2-40B4-BE49-F238E27FC236}">
                <a16:creationId xmlns:a16="http://schemas.microsoft.com/office/drawing/2014/main" id="{D8379361-34F8-425B-BCB7-3676B10B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1055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参数经校验后进入原动力学模型，结果来自实际积分。</a:t>
            </a:r>
          </a:p>
        </p:txBody>
      </p:sp>
      <p:sp>
        <p:nvSpPr>
          <p:cNvPr id="7" name="深色界面查看结果，白底 PNG / SVG 用于">
            <a:extLst xmlns:a="http://schemas.openxmlformats.org/drawingml/2006/main">
              <a:ext uri="{FF2B5EF4-FFF2-40B4-BE49-F238E27FC236}">
                <a16:creationId xmlns:a16="http://schemas.microsoft.com/office/drawing/2014/main" id="{A043F330-5EED-4B22-AD13-47DF7E14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深色界面查看结果，白底 PNG / SVG 用于文档</a:t>
            </a:r>
          </a:p>
        </p:txBody>
      </p:sp>
    </p:spTree>
    <p:extLst>
      <p:ext uri="{BB962C8B-B14F-4D97-AF65-F5344CB8AC3E}">
        <p14:creationId xmlns:p14="http://schemas.microsoft.com/office/powerpoint/2010/main" val="12716633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交付方式：单文件网页与 Python 服务版">
            <a:extLst xmlns:a="http://schemas.openxmlformats.org/drawingml/2006/main">
              <a:ext uri="{FF2B5EF4-FFF2-40B4-BE49-F238E27FC236}">
                <a16:creationId xmlns:a16="http://schemas.microsoft.com/office/drawing/2014/main" id="{D874C5BF-35BC-4D39-A8C2-3E815D0B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交付方式：单文件网页与 Python 服务版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95621-71F0-4BD8-BCCC-68921B7E30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62cc8b7ae400c"/>
          <a:stretch xmlns:a="http://schemas.openxmlformats.org/drawingml/2006/main"/>
        </p:blipFill>
        <p:spPr>
          <a:xfrm xmlns:a="http://schemas.openxmlformats.org/drawingml/2006/main">
            <a:off x="666750" y="1424541"/>
            <a:ext cx="7239000" cy="4713767"/>
          </a:xfrm>
          <a:prstGeom xmlns:a="http://schemas.openxmlformats.org/drawingml/2006/main" prst="rect">
            <a:avLst/>
          </a:prstGeom>
        </p:spPr>
      </p:pic>
      <p:sp>
        <p:nvSpPr>
          <p:cNvPr id="3" name="单文件网页版">
            <a:extLst xmlns:a="http://schemas.openxmlformats.org/drawingml/2006/main">
              <a:ext uri="{FF2B5EF4-FFF2-40B4-BE49-F238E27FC236}">
                <a16:creationId xmlns:a16="http://schemas.microsoft.com/office/drawing/2014/main" id="{A32684B9-E8D0-4AA1-B6F9-1976AFC4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002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单文件网页版</a:t>
            </a:r>
          </a:p>
        </p:txBody>
      </p:sp>
      <p:sp>
        <p:nvSpPr>
          <p:cNvPr id="4" name="浏览器本地仿真&#10;可离线调整参数">
            <a:extLst xmlns:a="http://schemas.openxmlformats.org/drawingml/2006/main">
              <a:ext uri="{FF2B5EF4-FFF2-40B4-BE49-F238E27FC236}">
                <a16:creationId xmlns:a16="http://schemas.microsoft.com/office/drawing/2014/main" id="{DAA66315-D8F7-440B-A343-A5744533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09800"/>
            <a:ext cx="323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浏览器本地仿真</a:t>
            </a:r>
          </a:p>
          <a:p xmlns:a="http://schemas.openxmlformats.org/drawingml/2006/main">
            <a: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可离线调整参数</a:t>
            </a:r>
          </a:p>
        </p:txBody>
      </p:sp>
      <p:sp>
        <p:nvSpPr>
          <p:cNvPr id="5" name="Python 服务版">
            <a:extLst xmlns:a="http://schemas.openxmlformats.org/drawingml/2006/main">
              <a:ext uri="{FF2B5EF4-FFF2-40B4-BE49-F238E27FC236}">
                <a16:creationId xmlns:a16="http://schemas.microsoft.com/office/drawing/2014/main" id="{CC8B09DC-CA64-4E0D-88DE-12109987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385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Python 服务版</a:t>
            </a:r>
          </a:p>
        </p:txBody>
      </p:sp>
      <p:sp>
        <p:nvSpPr>
          <p:cNvPr id="6" name="提供后端求解&#10;含部署配置">
            <a:extLst xmlns:a="http://schemas.openxmlformats.org/drawingml/2006/main">
              <a:ext uri="{FF2B5EF4-FFF2-40B4-BE49-F238E27FC236}">
                <a16:creationId xmlns:a16="http://schemas.microsoft.com/office/drawing/2014/main" id="{BFB718C9-2ADB-4403-AA6B-60CC7FBD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481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提供后端求解</a:t>
            </a:r>
          </a:p>
          <a:p xmlns:a="http://schemas.openxmlformats.org/drawingml/2006/main">
            <a: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含部署配置</a:t>
            </a:r>
          </a:p>
        </p:txBody>
      </p:sp>
      <p:sp>
        <p:nvSpPr>
          <p:cNvPr id="7" name="AI 功能需配置模型服务与密钥，并连接网络">
            <a:extLst xmlns:a="http://schemas.openxmlformats.org/drawingml/2006/main">
              <a:ext uri="{FF2B5EF4-FFF2-40B4-BE49-F238E27FC236}">
                <a16:creationId xmlns:a16="http://schemas.microsoft.com/office/drawing/2014/main" id="{3977B548-A961-4A88-9087-030CE48C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18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AI 功能需配置模型服务与密钥，并连接网络</a:t>
            </a:r>
          </a:p>
        </p:txBody>
      </p:sp>
    </p:spTree>
    <p:extLst>
      <p:ext uri="{BB962C8B-B14F-4D97-AF65-F5344CB8AC3E}">
        <p14:creationId xmlns:p14="http://schemas.microsoft.com/office/powerpoint/2010/main" val="7327354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四种输入方式，共用同一套参数">
            <a:extLst xmlns:a="http://schemas.openxmlformats.org/drawingml/2006/main">
              <a:ext uri="{FF2B5EF4-FFF2-40B4-BE49-F238E27FC236}">
                <a16:creationId xmlns:a16="http://schemas.microsoft.com/office/drawing/2014/main" id="{68F2DFAA-99A6-43BF-AB0F-11FD41A3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四种输入方式，共用同一套参数</a:t>
            </a:r>
          </a:p>
        </p:txBody>
      </p:sp>
      <p:sp>
        <p:nvSpPr>
          <p:cNvPr id="2" name="手动调参与自然语言">
            <a:extLst xmlns:a="http://schemas.openxmlformats.org/drawingml/2006/main">
              <a:ext uri="{FF2B5EF4-FFF2-40B4-BE49-F238E27FC236}">
                <a16:creationId xmlns:a16="http://schemas.microsoft.com/office/drawing/2014/main" id="{03BF2C2B-FE53-4DA6-A79C-5AEB9673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1055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手动调参与自然语言</a:t>
            </a:r>
          </a:p>
        </p:txBody>
      </p:sp>
      <p:sp>
        <p:nvSpPr>
          <p:cNvPr id="3" name="24 个参数分组显示。支持恢复原代码默认值和快速">
            <a:extLst xmlns:a="http://schemas.openxmlformats.org/drawingml/2006/main">
              <a:ext uri="{FF2B5EF4-FFF2-40B4-BE49-F238E27FC236}">
                <a16:creationId xmlns:a16="http://schemas.microsoft.com/office/drawing/2014/main" id="{A241F38E-6704-4AAA-8C1A-8A085CD1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55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24 个参数分组显示。支持恢复原代码默认值和快速试算。</a:t>
            </a:r>
          </a:p>
        </p:txBody>
      </p:sp>
      <p:sp>
        <p:nvSpPr>
          <p:cNvPr id="4" name="文件导入与实验计划">
            <a:extLst xmlns:a="http://schemas.openxmlformats.org/drawingml/2006/main">
              <a:ext uri="{FF2B5EF4-FFF2-40B4-BE49-F238E27FC236}">
                <a16:creationId xmlns:a16="http://schemas.microsoft.com/office/drawing/2014/main" id="{D68E33DE-E51E-403C-86A6-C26989B7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055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文件导入与实验计划</a:t>
            </a:r>
          </a:p>
        </p:txBody>
      </p:sp>
      <p:sp>
        <p:nvSpPr>
          <p:cNvPr id="5" name="解析文本 PDF、TXT、CSV、JSON，核对">
            <a:extLst xmlns:a="http://schemas.openxmlformats.org/drawingml/2006/main">
              <a:ext uri="{FF2B5EF4-FFF2-40B4-BE49-F238E27FC236}">
                <a16:creationId xmlns:a16="http://schemas.microsoft.com/office/drawing/2014/main" id="{C6744DF3-D8EA-4C60-8DFE-6B395D3A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1055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解析文本 PDF、TXT、CSV、JSON，核对后应用参数。</a:t>
            </a:r>
          </a:p>
          <a:p xmlns:a="http://schemas.openxmlformats.org/drawingml/2006/main">
            <a: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自然语言可生成多组实验计划与扫频任务。</a:t>
            </a:r>
          </a:p>
        </p:txBody>
      </p:sp>
      <p:sp>
        <p:nvSpPr>
          <p:cNvPr id="6" name="连续提问窗口可收起，仿真工作区保持主要位置">
            <a:extLst xmlns:a="http://schemas.openxmlformats.org/drawingml/2006/main">
              <a:ext uri="{FF2B5EF4-FFF2-40B4-BE49-F238E27FC236}">
                <a16:creationId xmlns:a16="http://schemas.microsoft.com/office/drawing/2014/main" id="{AE54ED82-2EE2-483F-A1B2-DE229691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72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连续提问窗口可收起，仿真工作区保持主要位置</a:t>
            </a:r>
          </a:p>
        </p:txBody>
      </p:sp>
    </p:spTree>
    <p:extLst>
      <p:ext uri="{BB962C8B-B14F-4D97-AF65-F5344CB8AC3E}">
        <p14:creationId xmlns:p14="http://schemas.microsoft.com/office/powerpoint/2010/main" val="4016161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一次求解，四类基础动力学图">
            <a:extLst xmlns:a="http://schemas.openxmlformats.org/drawingml/2006/main">
              <a:ext uri="{FF2B5EF4-FFF2-40B4-BE49-F238E27FC236}">
                <a16:creationId xmlns:a16="http://schemas.microsoft.com/office/drawing/2014/main" id="{E0F18EAC-FA88-4FC0-8199-3F522E72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一次求解，四类基础动力学图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90360-A092-4DCE-A547-7C3225532B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fa3a38643f4ce9"/>
          <a:stretch xmlns:a="http://schemas.openxmlformats.org/drawingml/2006/main"/>
        </p:blipFill>
        <p:spPr>
          <a:xfrm xmlns:a="http://schemas.openxmlformats.org/drawingml/2006/main">
            <a:off x="1997927" y="1343025"/>
            <a:ext cx="8196146" cy="4667250"/>
          </a:xfrm>
          <a:prstGeom xmlns:a="http://schemas.openxmlformats.org/drawingml/2006/main" prst="rect">
            <a:avLst/>
          </a:prstGeom>
        </p:spPr>
      </p:pic>
      <p:sp>
        <p:nvSpPr>
          <p:cNvPr id="3" name="时域图 / 功率谱 / 相轨线 / 庞加莱截面">
            <a:extLst xmlns:a="http://schemas.openxmlformats.org/drawingml/2006/main">
              <a:ext uri="{FF2B5EF4-FFF2-40B4-BE49-F238E27FC236}">
                <a16:creationId xmlns:a16="http://schemas.microsoft.com/office/drawing/2014/main" id="{FF3322DA-5ECF-4516-8658-821A20E1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时域图 / 功率谱 / 相轨线 / 庞加莱截面</a:t>
            </a:r>
          </a:p>
        </p:txBody>
      </p:sp>
    </p:spTree>
    <p:extLst>
      <p:ext uri="{BB962C8B-B14F-4D97-AF65-F5344CB8AC3E}">
        <p14:creationId xmlns:p14="http://schemas.microsoft.com/office/powerpoint/2010/main" val="14848426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论文出图：白底 PNG 与 SVG">
            <a:extLst xmlns:a="http://schemas.openxmlformats.org/drawingml/2006/main">
              <a:ext uri="{FF2B5EF4-FFF2-40B4-BE49-F238E27FC236}">
                <a16:creationId xmlns:a16="http://schemas.microsoft.com/office/drawing/2014/main" id="{71C130F1-50CA-40B1-B93E-64965BAE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论文出图：白底 PNG 与 SVG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26CDA-470D-40E5-B434-04A44EA27A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a7f83ec1f74638"/>
          <a:stretch xmlns:a="http://schemas.openxmlformats.org/drawingml/2006/main"/>
        </p:blipFill>
        <p:spPr>
          <a:xfrm xmlns:a="http://schemas.openxmlformats.org/drawingml/2006/main">
            <a:off x="723900" y="1581150"/>
            <a:ext cx="6572250" cy="4381500"/>
          </a:xfrm>
          <a:prstGeom xmlns:a="http://schemas.openxmlformats.org/drawingml/2006/main" prst="rect">
            <a:avLst/>
          </a:prstGeom>
        </p:spPr>
      </p:pic>
      <p:sp>
        <p:nvSpPr>
          <p:cNvPr id="3" name="图像完整导出">
            <a:extLst xmlns:a="http://schemas.openxmlformats.org/drawingml/2006/main">
              <a:ext uri="{FF2B5EF4-FFF2-40B4-BE49-F238E27FC236}">
                <a16:creationId xmlns:a16="http://schemas.microsoft.com/office/drawing/2014/main" id="{62F08F8B-DF6C-4679-8B21-FDC948A7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573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图像完整导出</a:t>
            </a:r>
          </a:p>
        </p:txBody>
      </p:sp>
      <p:sp>
        <p:nvSpPr>
          <p:cNvPr id="4" name="PNG 可设置 DPI&#10;默认 6 × 4 英寸&#10;">
            <a:extLst xmlns:a="http://schemas.openxmlformats.org/drawingml/2006/main">
              <a:ext uri="{FF2B5EF4-FFF2-40B4-BE49-F238E27FC236}">
                <a16:creationId xmlns:a16="http://schemas.microsoft.com/office/drawing/2014/main" id="{B3012F67-1DE7-4611-B6A7-2C1147D6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24100"/>
            <a:ext cx="3524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PNG 可设置 DPI</a:t>
            </a:r>
          </a:p>
          <a:p xmlns:a="http://schemas.openxmlformats.org/drawingml/2006/main">
            <a: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默认 6 × 4 英寸</a:t>
            </a:r>
          </a:p>
          <a:p xmlns:a="http://schemas.openxmlformats.org/drawingml/2006/main">
            <a: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600 DPI</a:t>
            </a:r>
          </a:p>
        </p:txBody>
      </p:sp>
      <p:sp>
        <p:nvSpPr>
          <p:cNvPr id="5" name="SVG 可缩放&#10;五类图均支持&#10;坐标范围、字号可调">
            <a:extLst xmlns:a="http://schemas.openxmlformats.org/drawingml/2006/main">
              <a:ext uri="{FF2B5EF4-FFF2-40B4-BE49-F238E27FC236}">
                <a16:creationId xmlns:a16="http://schemas.microsoft.com/office/drawing/2014/main" id="{6760CFF7-D29A-4433-8EA1-802B1EFD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33850"/>
            <a:ext cx="3524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SVG 可缩放</a:t>
            </a:r>
          </a:p>
          <a:p xmlns:a="http://schemas.openxmlformats.org/drawingml/2006/main">
            <a: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五类图均支持</a:t>
            </a:r>
          </a:p>
          <a:p xmlns:a="http://schemas.openxmlformats.org/drawingml/2006/main">
            <a: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坐标范围、字号可调</a:t>
            </a:r>
          </a:p>
        </p:txBody>
      </p:sp>
      <p:sp>
        <p:nvSpPr>
          <p:cNvPr id="6" name="网页继续使用深色配色，导出图像统一白底">
            <a:extLst xmlns:a="http://schemas.openxmlformats.org/drawingml/2006/main">
              <a:ext uri="{FF2B5EF4-FFF2-40B4-BE49-F238E27FC236}">
                <a16:creationId xmlns:a16="http://schemas.microsoft.com/office/drawing/2014/main" id="{A54F5A1D-B06B-4760-AC01-D22A1534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674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网页继续使用深色配色，导出图像统一白底</a:t>
            </a:r>
          </a:p>
        </p:txBody>
      </p:sp>
    </p:spTree>
    <p:extLst>
      <p:ext uri="{BB962C8B-B14F-4D97-AF65-F5344CB8AC3E}">
        <p14:creationId xmlns:p14="http://schemas.microsoft.com/office/powerpoint/2010/main" val="21317512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数值实现：保留原六状态动力学模型">
            <a:extLst xmlns:a="http://schemas.openxmlformats.org/drawingml/2006/main">
              <a:ext uri="{FF2B5EF4-FFF2-40B4-BE49-F238E27FC236}">
                <a16:creationId xmlns:a16="http://schemas.microsoft.com/office/drawing/2014/main" id="{F2279E0B-0947-415F-A6B6-90BBA6FF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数值实现：保留原六状态动力学模型</a:t>
            </a:r>
          </a:p>
        </p:txBody>
      </p:sp>
      <p:sp>
        <p:nvSpPr>
          <p:cNvPr id="2" name="位移与速度关系">
            <a:extLst xmlns:a="http://schemas.openxmlformats.org/drawingml/2006/main">
              <a:ext uri="{FF2B5EF4-FFF2-40B4-BE49-F238E27FC236}">
                <a16:creationId xmlns:a16="http://schemas.microsoft.com/office/drawing/2014/main" id="{1CD45320-9C11-4F7E-8EF5-01B97590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7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7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7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7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7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7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7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7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7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位移与速度关系</a:t>
            </a:r>
          </a:p>
        </p:txBody>
      </p:sp>
      <p:sp>
        <p:nvSpPr>
          <p:cNvPr id="3" name="dy1/dt = y2       dy3/dt">
            <a:extLst xmlns:a="http://schemas.openxmlformats.org/drawingml/2006/main">
              <a:ext uri="{FF2B5EF4-FFF2-40B4-BE49-F238E27FC236}">
                <a16:creationId xmlns:a16="http://schemas.microsoft.com/office/drawing/2014/main" id="{8A214E46-FD85-4F4D-B681-B010C770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7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7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7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7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7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7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7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7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7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7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dy1/dt = y2       dy3/dt = y4       dy5/dt = y6</a:t>
            </a:r>
          </a:p>
        </p:txBody>
      </p:sp>
      <p:sp>
        <p:nvSpPr>
          <p:cNvPr id="4" name="非线性来自分段间隙力">
            <a:extLst xmlns:a="http://schemas.openxmlformats.org/drawingml/2006/main">
              <a:ext uri="{FF2B5EF4-FFF2-40B4-BE49-F238E27FC236}">
                <a16:creationId xmlns:a16="http://schemas.microsoft.com/office/drawing/2014/main" id="{03132DA8-AF28-4D6E-9DD6-BC56C2AC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1055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非线性来自分段间隙力</a:t>
            </a:r>
          </a:p>
        </p:txBody>
      </p:sp>
      <p:sp>
        <p:nvSpPr>
          <p:cNvPr id="5" name="FM、FP、FG 根据位移与间隙阈值分段计算。">
            <a:extLst xmlns:a="http://schemas.openxmlformats.org/drawingml/2006/main">
              <a:ext uri="{FF2B5EF4-FFF2-40B4-BE49-F238E27FC236}">
                <a16:creationId xmlns:a16="http://schemas.microsoft.com/office/drawing/2014/main" id="{4FDCDAD7-5B9E-4086-930B-0E604FC9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1055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FM、FP、FG 根据位移与间隙阈值分段计算。</a:t>
            </a:r>
          </a:p>
        </p:txBody>
      </p:sp>
      <p:sp>
        <p:nvSpPr>
          <p:cNvPr id="6" name="保持原代码含 √2 系数的固定步长四阶积分格式">
            <a:extLst xmlns:a="http://schemas.openxmlformats.org/drawingml/2006/main">
              <a:ext uri="{FF2B5EF4-FFF2-40B4-BE49-F238E27FC236}">
                <a16:creationId xmlns:a16="http://schemas.microsoft.com/office/drawing/2014/main" id="{A6A679EA-A68F-4CAF-8BBF-9C92AF2E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保持原代码含 √2 系数的固定步长四阶积分格式</a:t>
            </a:r>
          </a:p>
        </p:txBody>
      </p:sp>
      <p:sp>
        <p:nvSpPr>
          <p:cNvPr id="7" name="h = 2π / (Ωeh × NN)">
            <a:extLst xmlns:a="http://schemas.openxmlformats.org/drawingml/2006/main">
              <a:ext uri="{FF2B5EF4-FFF2-40B4-BE49-F238E27FC236}">
                <a16:creationId xmlns:a16="http://schemas.microsoft.com/office/drawing/2014/main" id="{8A0EF2E4-F26B-4105-BDD0-A653245F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150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h = 2π / (Ωeh × NN)</a:t>
            </a:r>
          </a:p>
        </p:txBody>
      </p:sp>
    </p:spTree>
    <p:extLst>
      <p:ext uri="{BB962C8B-B14F-4D97-AF65-F5344CB8AC3E}">
        <p14:creationId xmlns:p14="http://schemas.microsoft.com/office/powerpoint/2010/main" val="7292459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I 配置与可追溯执行">
            <a:extLst xmlns:a="http://schemas.openxmlformats.org/drawingml/2006/main">
              <a:ext uri="{FF2B5EF4-FFF2-40B4-BE49-F238E27FC236}">
                <a16:creationId xmlns:a16="http://schemas.microsoft.com/office/drawing/2014/main" id="{53D0888A-62FE-467F-9050-0CBA9803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AI 配置与可追溯执行</a:t>
            </a:r>
          </a:p>
        </p:txBody>
      </p:sp>
      <p:sp>
        <p:nvSpPr>
          <p:cNvPr id="2" name="用户自行配置模型服务">
            <a:extLst xmlns:a="http://schemas.openxmlformats.org/drawingml/2006/main">
              <a:ext uri="{FF2B5EF4-FFF2-40B4-BE49-F238E27FC236}">
                <a16:creationId xmlns:a16="http://schemas.microsoft.com/office/drawing/2014/main" id="{6AA40998-3BB8-49BD-9477-2FA5597B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1055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用户自行配置模型服务</a:t>
            </a:r>
          </a:p>
        </p:txBody>
      </p:sp>
      <p:sp>
        <p:nvSpPr>
          <p:cNvPr id="3" name="输入服务地址、密钥与模型名称，支持连续提问。">
            <a:extLst xmlns:a="http://schemas.openxmlformats.org/drawingml/2006/main">
              <a:ext uri="{FF2B5EF4-FFF2-40B4-BE49-F238E27FC236}">
                <a16:creationId xmlns:a16="http://schemas.microsoft.com/office/drawing/2014/main" id="{BA2F40E0-08D8-4F50-9AF7-F66166E6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55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输入服务地址、密钥与模型名称，支持连续提问。</a:t>
            </a:r>
          </a:p>
        </p:txBody>
      </p:sp>
      <p:sp>
        <p:nvSpPr>
          <p:cNvPr id="4" name="参数修改经过校验">
            <a:extLst xmlns:a="http://schemas.openxmlformats.org/drawingml/2006/main">
              <a:ext uri="{FF2B5EF4-FFF2-40B4-BE49-F238E27FC236}">
                <a16:creationId xmlns:a16="http://schemas.microsoft.com/office/drawing/2014/main" id="{0C5FB8C1-C150-4E5A-80A8-BB151A40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参数修改经过校验</a:t>
            </a:r>
          </a:p>
        </p:txBody>
      </p:sp>
      <p:sp>
        <p:nvSpPr>
          <p:cNvPr id="5" name="检查参数名称、数值与范围，显示实际应用或拒绝的修">
            <a:extLst xmlns:a="http://schemas.openxmlformats.org/drawingml/2006/main">
              <a:ext uri="{FF2B5EF4-FFF2-40B4-BE49-F238E27FC236}">
                <a16:creationId xmlns:a16="http://schemas.microsoft.com/office/drawing/2014/main" id="{A7068565-618B-4E1C-8D18-036C0406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1055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检查参数名称、数值与范围，显示实际应用或拒绝的修改。</a:t>
            </a:r>
          </a:p>
        </p:txBody>
      </p:sp>
      <p:sp>
        <p:nvSpPr>
          <p:cNvPr id="6" name="文档参数保留来源">
            <a:extLst xmlns:a="http://schemas.openxmlformats.org/drawingml/2006/main">
              <a:ext uri="{FF2B5EF4-FFF2-40B4-BE49-F238E27FC236}">
                <a16:creationId xmlns:a16="http://schemas.microsoft.com/office/drawing/2014/main" id="{6A89A699-C176-4BD3-860A-FEB8E5D6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1055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文档参数保留来源</a:t>
            </a:r>
          </a:p>
        </p:txBody>
      </p:sp>
      <p:sp>
        <p:nvSpPr>
          <p:cNvPr id="7" name="查看提取内容和来源证据，核对后再进入实验。">
            <a:extLst xmlns:a="http://schemas.openxmlformats.org/drawingml/2006/main">
              <a:ext uri="{FF2B5EF4-FFF2-40B4-BE49-F238E27FC236}">
                <a16:creationId xmlns:a16="http://schemas.microsoft.com/office/drawing/2014/main" id="{54F3BA5C-C2F9-4A6F-954D-AE34E14D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1055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查看提取内容和来源证据，核对后再进入实验。</a:t>
            </a:r>
          </a:p>
        </p:txBody>
      </p:sp>
    </p:spTree>
    <p:extLst>
      <p:ext uri="{BB962C8B-B14F-4D97-AF65-F5344CB8AC3E}">
        <p14:creationId xmlns:p14="http://schemas.microsoft.com/office/powerpoint/2010/main" val="13926556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结果核验与适用边界">
            <a:extLst xmlns:a="http://schemas.openxmlformats.org/drawingml/2006/main">
              <a:ext uri="{FF2B5EF4-FFF2-40B4-BE49-F238E27FC236}">
                <a16:creationId xmlns:a16="http://schemas.microsoft.com/office/drawing/2014/main" id="{2BDBDA77-1788-439E-93C0-13F93343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结果核验与适用边界</a:t>
            </a:r>
          </a:p>
        </p:txBody>
      </p:sp>
      <p:sp>
        <p:nvSpPr>
          <p:cNvPr id="2" name="快速试算 RMS：两个版本结果在显示精度内接近">
            <a:extLst xmlns:a="http://schemas.openxmlformats.org/drawingml/2006/main">
              <a:ext uri="{FF2B5EF4-FFF2-40B4-BE49-F238E27FC236}">
                <a16:creationId xmlns:a16="http://schemas.microsoft.com/office/drawing/2014/main" id="{9BD33C37-AC76-4DA1-B6AF-CF6942B7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525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快速试算 RMS：两个版本结果在显示精度内接近</a:t>
            </a:r>
          </a:p>
        </p:txBody>
      </p:sp>
      <p:sp>
        <p:nvSpPr>
          <p:cNvPr id="3" name="Python   1.3929455813320">
            <a:extLst xmlns:a="http://schemas.openxmlformats.org/drawingml/2006/main">
              <a:ext uri="{FF2B5EF4-FFF2-40B4-BE49-F238E27FC236}">
                <a16:creationId xmlns:a16="http://schemas.microsoft.com/office/drawing/2014/main" id="{AADB4ACB-973A-4F9F-B42C-D27E2514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907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Python   1.3929455813320966</a:t>
            </a:r>
          </a:p>
          <a:p xmlns:a="http://schemas.openxmlformats.org/drawingml/2006/main">
            <a:pPr>
              <a:buNone/>
              <a:defRPr sz="24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浏览器   1.392945581332101</a:t>
            </a:r>
          </a:p>
        </p:txBody>
      </p:sp>
      <p:sp>
        <p:nvSpPr>
          <p:cNvPr id="4" name="默认长时积分 RMS：存在约 0.03% 的历史">
            <a:extLst xmlns:a="http://schemas.openxmlformats.org/drawingml/2006/main">
              <a:ext uri="{FF2B5EF4-FFF2-40B4-BE49-F238E27FC236}">
                <a16:creationId xmlns:a16="http://schemas.microsoft.com/office/drawing/2014/main" id="{8AC314EA-4B4B-4A5F-8947-74F83250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95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默认长时积分 RMS：存在约 0.03% 的历史差异</a:t>
            </a:r>
          </a:p>
        </p:txBody>
      </p:sp>
      <p:sp>
        <p:nvSpPr>
          <p:cNvPr id="5" name="Python   1.3834258      ">
            <a:extLst xmlns:a="http://schemas.openxmlformats.org/drawingml/2006/main">
              <a:ext uri="{FF2B5EF4-FFF2-40B4-BE49-F238E27FC236}">
                <a16:creationId xmlns:a16="http://schemas.microsoft.com/office/drawing/2014/main" id="{04350D64-7328-413B-A19A-D61A3BB7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Python   1.3834258       浏览器   1.38301</a:t>
            </a:r>
          </a:p>
        </p:txBody>
      </p:sp>
      <p:sp>
        <p:nvSpPr>
          <p:cNvPr id="6" name="跨版本接近不能替代步长收敛与实验数据验证">
            <a:extLst xmlns:a="http://schemas.openxmlformats.org/drawingml/2006/main">
              <a:ext uri="{FF2B5EF4-FFF2-40B4-BE49-F238E27FC236}">
                <a16:creationId xmlns:a16="http://schemas.microsoft.com/office/drawing/2014/main" id="{120FF277-30FD-40B4-AE83-5A72D89A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跨版本接近不能替代步长收敛与实验数据验证</a:t>
            </a:r>
          </a:p>
        </p:txBody>
      </p:sp>
    </p:spTree>
    <p:extLst>
      <p:ext uri="{BB962C8B-B14F-4D97-AF65-F5344CB8AC3E}">
        <p14:creationId xmlns:p14="http://schemas.microsoft.com/office/powerpoint/2010/main" val="2482513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附加分析：李雅普诺夫指数与关联维数">
            <a:extLst xmlns:a="http://schemas.openxmlformats.org/drawingml/2006/main">
              <a:ext uri="{FF2B5EF4-FFF2-40B4-BE49-F238E27FC236}">
                <a16:creationId xmlns:a16="http://schemas.microsoft.com/office/drawing/2014/main" id="{2026BD2F-AE16-47BB-8367-C338F007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附加分析：李雅普诺夫指数与关联维数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1ECA3-A4B1-4C91-9CD3-9F322DA3EB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eb3a9754b4360"/>
          <a:stretch xmlns:a="http://schemas.openxmlformats.org/drawingml/2006/main"/>
        </p:blipFill>
        <p:spPr>
          <a:xfrm xmlns:a="http://schemas.openxmlformats.org/drawingml/2006/main">
            <a:off x="1134247" y="1562100"/>
            <a:ext cx="9885405" cy="3048000"/>
          </a:xfrm>
          <a:prstGeom xmlns:a="http://schemas.openxmlformats.org/drawingml/2006/main" prst="rect">
            <a:avLst/>
          </a:prstGeom>
        </p:spPr>
      </p:pic>
      <p:sp>
        <p:nvSpPr>
          <p:cNvPr id="3" name="最大有限时间李雅普诺夫指数&#10;关联维数参考曲线、分">
            <a:extLst xmlns:a="http://schemas.openxmlformats.org/drawingml/2006/main">
              <a:ext uri="{FF2B5EF4-FFF2-40B4-BE49-F238E27FC236}">
                <a16:creationId xmlns:a16="http://schemas.microsoft.com/office/drawing/2014/main" id="{AFCEC9AA-1C84-49CD-8C71-622C2728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最大有限时间李雅普诺夫指数</a:t>
            </a:r>
          </a:p>
          <a:p xmlns:a="http://schemas.openxmlformats.org/drawingml/2006/main">
            <a:pPr>
              <a:buNone/>
              <a:def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关联维数参考曲线、分窗 RMS、分布与自相关</a:t>
            </a:r>
          </a:p>
        </p:txBody>
      </p:sp>
      <p:sp>
        <p:nvSpPr>
          <p:cNvPr id="4" name="用于辅助诊断，暂不自动判定混沌或严格分形维数">
            <a:extLst xmlns:a="http://schemas.openxmlformats.org/drawingml/2006/main">
              <a:ext uri="{FF2B5EF4-FFF2-40B4-BE49-F238E27FC236}">
                <a16:creationId xmlns:a16="http://schemas.microsoft.com/office/drawing/2014/main" id="{E4F4A15F-143F-47BB-8053-C35278AA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769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用于辅助诊断，暂不自动判定混沌或严格分形维数</a:t>
            </a:r>
          </a:p>
        </p:txBody>
      </p:sp>
    </p:spTree>
    <p:extLst>
      <p:ext uri="{BB962C8B-B14F-4D97-AF65-F5344CB8AC3E}">
        <p14:creationId xmlns:p14="http://schemas.microsoft.com/office/powerpoint/2010/main" val="13023531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应用价值与后续改进">
            <a:extLst xmlns:a="http://schemas.openxmlformats.org/drawingml/2006/main">
              <a:ext uri="{FF2B5EF4-FFF2-40B4-BE49-F238E27FC236}">
                <a16:creationId xmlns:a16="http://schemas.microsoft.com/office/drawing/2014/main" id="{50A3C2A8-8196-4A36-A33F-4400A297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应用价值与后续改进</a:t>
            </a:r>
          </a:p>
        </p:txBody>
      </p:sp>
      <p:sp>
        <p:nvSpPr>
          <p:cNvPr id="2" name="研究与组会演示">
            <a:extLst xmlns:a="http://schemas.openxmlformats.org/drawingml/2006/main">
              <a:ext uri="{FF2B5EF4-FFF2-40B4-BE49-F238E27FC236}">
                <a16:creationId xmlns:a16="http://schemas.microsoft.com/office/drawing/2014/main" id="{145A4515-A0FA-4CA7-8A18-ECCA38FF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1055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研究与组会演示</a:t>
            </a:r>
          </a:p>
        </p:txBody>
      </p:sp>
      <p:sp>
        <p:nvSpPr>
          <p:cNvPr id="3" name="调整参数并对比图形，保留参数和结果，减少重复操作">
            <a:extLst xmlns:a="http://schemas.openxmlformats.org/drawingml/2006/main">
              <a:ext uri="{FF2B5EF4-FFF2-40B4-BE49-F238E27FC236}">
                <a16:creationId xmlns:a16="http://schemas.microsoft.com/office/drawing/2014/main" id="{0403F78D-F6CE-4911-BB63-2ED97D7B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1055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调整参数并对比图形，保留参数和结果，减少重复操作。</a:t>
            </a:r>
          </a:p>
        </p:txBody>
      </p:sp>
      <p:sp>
        <p:nvSpPr>
          <p:cNvPr id="4" name="论文材料整理">
            <a:extLst xmlns:a="http://schemas.openxmlformats.org/drawingml/2006/main">
              <a:ext uri="{FF2B5EF4-FFF2-40B4-BE49-F238E27FC236}">
                <a16:creationId xmlns:a16="http://schemas.microsoft.com/office/drawing/2014/main" id="{C4E61675-C89A-4858-9295-A429CC9A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论文材料整理</a:t>
            </a:r>
          </a:p>
        </p:txBody>
      </p:sp>
      <p:sp>
        <p:nvSpPr>
          <p:cNvPr id="5" name="导出白底图像与数据，统一坐标和格式。">
            <a:extLst xmlns:a="http://schemas.openxmlformats.org/drawingml/2006/main">
              <a:ext uri="{FF2B5EF4-FFF2-40B4-BE49-F238E27FC236}">
                <a16:creationId xmlns:a16="http://schemas.microsoft.com/office/drawing/2014/main" id="{E0DB81A9-14AF-4BBC-A192-3481690B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1055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导出白底图像与数据，统一坐标和格式。</a:t>
            </a:r>
          </a:p>
        </p:txBody>
      </p:sp>
      <p:sp>
        <p:nvSpPr>
          <p:cNvPr id="6" name="下一步工作">
            <a:extLst xmlns:a="http://schemas.openxmlformats.org/drawingml/2006/main">
              <a:ext uri="{FF2B5EF4-FFF2-40B4-BE49-F238E27FC236}">
                <a16:creationId xmlns:a16="http://schemas.microsoft.com/office/drawing/2014/main" id="{9CA761C5-C27C-4955-8A23-56E63291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1055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下一步工作</a:t>
            </a:r>
          </a:p>
        </p:txBody>
      </p:sp>
      <p:sp>
        <p:nvSpPr>
          <p:cNvPr id="7" name="补充步长收敛与实测对照，改进扫描文档识别和共享部">
            <a:extLst xmlns:a="http://schemas.openxmlformats.org/drawingml/2006/main">
              <a:ext uri="{FF2B5EF4-FFF2-40B4-BE49-F238E27FC236}">
                <a16:creationId xmlns:a16="http://schemas.microsoft.com/office/drawing/2014/main" id="{8659C58D-8EE6-4372-8054-10A0A82C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1055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补充步长收敛与实测对照，改进扫描文档识别和共享部署。</a:t>
            </a:r>
          </a:p>
        </p:txBody>
      </p:sp>
    </p:spTree>
    <p:extLst>
      <p:ext uri="{BB962C8B-B14F-4D97-AF65-F5344CB8AC3E}">
        <p14:creationId xmlns:p14="http://schemas.microsoft.com/office/powerpoint/2010/main" val="11293923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感谢聆听">
            <a:extLst xmlns:a="http://schemas.openxmlformats.org/drawingml/2006/main">
              <a:ext uri="{FF2B5EF4-FFF2-40B4-BE49-F238E27FC236}">
                <a16:creationId xmlns:a16="http://schemas.microsoft.com/office/drawing/2014/main" id="{4112E0B0-B7D2-43FF-8CB1-302BDB22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7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57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57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57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57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57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57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57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57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57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57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57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感谢聆听</a:t>
            </a:r>
          </a:p>
        </p:txBody>
      </p:sp>
      <p:sp>
        <p:nvSpPr>
          <p:cNvPr id="2" name="振动 AI 实验助手">
            <a:extLst xmlns:a="http://schemas.openxmlformats.org/drawingml/2006/main">
              <a:ext uri="{FF2B5EF4-FFF2-40B4-BE49-F238E27FC236}">
                <a16:creationId xmlns:a16="http://schemas.microsoft.com/office/drawing/2014/main" id="{54184E9E-F894-434B-86D9-B3C724D4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6707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30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30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30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30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30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30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30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30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30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振动 AI 实验助手</a:t>
            </a:r>
          </a:p>
        </p:txBody>
      </p:sp>
      <p:sp>
        <p:nvSpPr>
          <p:cNvPr id="3" name="科研创新赛道">
            <a:extLst xmlns:a="http://schemas.openxmlformats.org/drawingml/2006/main">
              <a:ext uri="{FF2B5EF4-FFF2-40B4-BE49-F238E27FC236}">
                <a16:creationId xmlns:a16="http://schemas.microsoft.com/office/drawing/2014/main" id="{A275331E-EB8A-4BD0-A95B-ED1327B1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814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科研创新赛道</a:t>
            </a:r>
          </a:p>
        </p:txBody>
      </p:sp>
      <p:sp>
        <p:nvSpPr>
          <p:cNvPr id="4" name="单文件网页 + Python 服务版">
            <a:extLst xmlns:a="http://schemas.openxmlformats.org/drawingml/2006/main">
              <a:ext uri="{FF2B5EF4-FFF2-40B4-BE49-F238E27FC236}">
                <a16:creationId xmlns:a16="http://schemas.microsoft.com/office/drawing/2014/main" id="{C5CD0573-9B11-4938-8480-ACC5A858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单文件网页 + Python 服务版</a:t>
            </a:r>
          </a:p>
        </p:txBody>
      </p:sp>
      <p:sp>
        <p:nvSpPr>
          <p:cNvPr id="5" name="谭星（队长）、黄林、刘诗阳、曹艺成">
            <a:extLst xmlns:a="http://schemas.openxmlformats.org/drawingml/2006/main">
              <a:ext uri="{FF2B5EF4-FFF2-40B4-BE49-F238E27FC236}">
                <a16:creationId xmlns:a16="http://schemas.microsoft.com/office/drawing/2014/main" id="{E0C3933A-D28E-4B4A-8BB6-92AD2AA6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912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defPPr>
            <a:lvl1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2pPr>
            <a:lvl3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3pPr>
            <a:lvl4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4pPr>
            <a:lvl5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5pPr>
            <a:lvl6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6pPr>
            <a:lvl7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7pPr>
            <a:lvl8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8pPr>
            <a:lvl9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谭星（队长）、黄林、刘诗阳、曹艺成</a:t>
            </a:r>
          </a:p>
        </p:txBody>
      </p:sp>
    </p:spTree>
    <p:extLst>
      <p:ext uri="{BB962C8B-B14F-4D97-AF65-F5344CB8AC3E}">
        <p14:creationId xmlns:p14="http://schemas.microsoft.com/office/powerpoint/2010/main" val="813770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2026-10-22T03:29:53.6470000Z</dcterms:created>
  <dcterms:modified xsi:type="dcterms:W3CDTF">2026-10-22T03:29:53.6470000Z</dcterms:modified>
</coreProperties>
</file>