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开场不要讲 AI。先讲一句话：这个工具算出来的每一个数，都是原始方程算的，我一个字都没改。AI 只负责把你说的话翻译成参数，然后接受校验。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先立靶子。三个问题里，第一个和第二个是效率问题，第三个是学术诚信问题。评委听到第三个会抬头——因为大部分学生项目都踩这个坑，算出来就往外讲。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这一页是整个项目的立场。很多"AI+仿真"项目会把原来的求解器换成更快的、更稳的，然后图更漂亮——但那已经不是原来那套代码了。我这里一条都没换。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这一页解决评委最大的疑虑：我拿到手能不能跑起来。单文件版就是为这个做的，1.53MB，双击，三秒出结果。而且它不是我另写一套——前端五个文件原样内联，只是把接口调用接到本地。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架构很薄，三层。重点是右上角那条：AI 在虚线框里，它只能输出参数操作，拿不到计算结果，也就没法编。下面那条是安全：密钥不进后端、不写日志，公网要口令。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这页讲两件事。第一，方程和积分格式原样照搬。第二，那个 √2 系数的坑——0.5(√2−1) 和 0.5√2−1 差一个 0.5，抄错了程序不报错，只是曲线悄悄偏 50%。这种错误看图表根本看不出来，所以我后来做了逐字段数值对照。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参数一共 24 个，分六组。左边这张是真实界面截的，注意最后三个是灰色的——NT_total、NT_start、NN 是计算规模，AI 不能改，只能人改。这一条后面第八页还会讲。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四道闸门。第三道最关键：它不是简单拒绝，是把越界值夹到合法区间，然后把"0.9 变成 0.2"这件事写在对话里。用户看得见改了什么。第四道是防着模型为了"跑快点"偷偷降精度。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第三个场景是我特意加的：模型有时候会很"聪明"地想把 NT_total 从 20000 降到 100，理由是"这样跑得快"。这在科研工具里是不可接受的，所以 NT_total 根本不在白名单里。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四张图，每张对应一个判据。截图底部三个数是这次运行的实际输出：RMS 1.38301、峰值 1.80063、主频 0.15915。注意我们不输出 Lyapunov、不判混沌——这一点第十五页会专门讲。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这一页讲的是"能不能直接拿去用"。600 DPI、6×4 英寸、单独设坐标范围——这些细节看起来很琐碎，但它决定了学生是"截个图凑合"还是"直接放进论文"。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这是我认为最值钱的一页。单文件版是把 Python 重写成 JavaScript，重写就可能抄错，而这类错不报错、只让曲线悄悄偏。所以我按字段做了对照：快速试算 0 处不一致，2000 步内逐位相同。全量有 0.03% 的差，我查了原因，是 sin 的末位差被非线性放大，不是算法问题——这一条我写进了文档，也放在这里。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这页我故意不吹。代理模型 MAE 比基线好，但推荐的参数回灌复算之后没改善，改善率是负的 0.5%。我把这条负结果留在界面上、留在报告里。删掉它，这个模块就变成 PPT 工程了。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六步，三分钟。关键在第四步到第五步：改一个参数，让评委看见三个数和四张图一起变。很多人演示 AI 产品只演"问一句、答一句"，我这里是"改一句、算一遍"。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这一页是防守，也是加分项。评委问"你这能判混沌吗"，我直接回答：不能，我没做 Lyapunov。界面上那行字是常驻的，不是我口头说说。学术工具把边界写清楚，比多做一个功能更值钱。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页。左边是交付包里到底有什么，每一项都能打开看。右边三条线是我给自己划的：不判混沌、不标单位、不出结论。不是为了显得保守，是因为这三件事我确实没做，做了也验证不了。最后那句话是这页的重点——没有算过的结论，一个字都不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6900" y="4318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 LAB · 科研创新赛道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998200" y="457200"/>
            <a:ext cx="59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6900" y="1498600"/>
            <a:ext cx="9652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振动 AI · 实验助手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6900" y="2590800"/>
            <a:ext cx="965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900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设置参数，运行仿真</a:t>
            </a:r>
            <a:endParaRPr lang="en-US" sz="2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900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核对响应与统计结果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6900" y="4445000"/>
            <a:ext cx="1524000" cy="0"/>
          </a:xfrm>
          <a:prstGeom prst="line">
            <a:avLst/>
          </a:prstGeom>
          <a:noFill/>
          <a:ln w="19050">
            <a:solidFill>
              <a:srgbClr val="49E2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6900" y="4673600"/>
            <a:ext cx="914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六状态非线性动力学 · 原始方程 · 本地数值求解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6900" y="5715000"/>
            <a:ext cx="889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 / 姓名 / 学校：待填写真实信息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6900" y="3302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6900" y="558800"/>
            <a:ext cx="1054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用脚本做实验，卡在三件与算法无关的事上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6900" y="1346200"/>
            <a:ext cx="10998200" cy="0"/>
          </a:xfrm>
          <a:prstGeom prst="line">
            <a:avLst/>
          </a:prstGeom>
          <a:noFill/>
          <a:ln w="9525">
            <a:solidFill>
              <a:srgbClr val="2340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8200" y="508000"/>
            <a:ext cx="59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6900" y="1676400"/>
            <a:ext cx="3479800" cy="2235200"/>
          </a:xfrm>
          <a:prstGeom prst="roundRect">
            <a:avLst>
              <a:gd name="adj" fmla="val 2045"/>
            </a:avLst>
          </a:prstGeom>
          <a:solidFill>
            <a:srgbClr val="101E36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5500" y="18796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5500" y="231140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参数散在代码里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5500" y="2717800"/>
            <a:ext cx="30226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阻尼、间隙、激励幅值分散在多个脚本。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想改一组参数做对比，得翻三处，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改完还不确定有没有改全。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05300" y="1676400"/>
            <a:ext cx="3479800" cy="2235200"/>
          </a:xfrm>
          <a:prstGeom prst="roundRect">
            <a:avLst>
              <a:gd name="adj" fmla="val 2045"/>
            </a:avLst>
          </a:prstGeom>
          <a:solidFill>
            <a:srgbClr val="101E36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33900" y="18796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33900" y="231140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结果散在文件夹里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33900" y="2717800"/>
            <a:ext cx="30226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截图、日志、临时 CSV 混在一起。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过两周回头看，分不清哪张图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对应哪组参数。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13700" y="1676400"/>
            <a:ext cx="3479800" cy="2235200"/>
          </a:xfrm>
          <a:prstGeom prst="roundRect">
            <a:avLst>
              <a:gd name="adj" fmla="val 2045"/>
            </a:avLst>
          </a:prstGeom>
          <a:solidFill>
            <a:srgbClr val="101E36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2300" y="18796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42300" y="231140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结论走出边界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42300" y="2717800"/>
            <a:ext cx="30226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脚本不会告诉你它不能算什么。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单位没标定的数容易被当成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工程结论往外讲。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6900" y="4241800"/>
            <a:ext cx="10998200" cy="939800"/>
          </a:xfrm>
          <a:prstGeom prst="roundRect">
            <a:avLst>
              <a:gd name="adj" fmla="val 4865"/>
            </a:avLst>
          </a:prstGeom>
          <a:solidFill>
            <a:srgbClr val="0E2A34"/>
          </a:solidFill>
          <a:ln w="9525">
            <a:solidFill>
              <a:srgbClr val="2E7F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3600" y="4445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24000" y="4419600"/>
            <a:ext cx="977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缺的不是更快的算法，是三件事：算得对、说得清、查得到。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24000" y="4749800"/>
            <a:ext cx="977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所以这个项目从头到尾没动方程——动的是方程外面的那一层。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6900" y="6311900"/>
            <a:ext cx="1099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这三条也是后面所有设计取舍的依据：参数集中、结果可导出、边界写在页面上。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6900" y="3302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6900" y="558800"/>
            <a:ext cx="1054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不换算法，只换操作面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6900" y="1346200"/>
            <a:ext cx="10998200" cy="0"/>
          </a:xfrm>
          <a:prstGeom prst="line">
            <a:avLst/>
          </a:prstGeom>
          <a:noFill/>
          <a:ln w="9525">
            <a:solidFill>
              <a:srgbClr val="2340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8200" y="508000"/>
            <a:ext cx="59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6900" y="1651000"/>
            <a:ext cx="5080000" cy="2717800"/>
          </a:xfrm>
          <a:prstGeom prst="roundRect">
            <a:avLst>
              <a:gd name="adj" fmla="val 1682"/>
            </a:avLst>
          </a:prstGeom>
          <a:solidFill>
            <a:srgbClr val="101E36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8200" y="18542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原代码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38200" y="2209800"/>
            <a:ext cx="457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D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physics.py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200" y="2565400"/>
            <a:ext cx="457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六状态方程 · 四阶 Runge–Kutta</a:t>
            </a: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Fehlberg 的 √2 节点系数</a:t>
            </a: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定步长 h = 2π/(Ω·NN)</a:t>
            </a: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 个参数，默认值 20000 / 12000 / 256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78500" y="2895600"/>
            <a:ext cx="609600" cy="203200"/>
          </a:xfrm>
          <a:prstGeom prst="rightArrow">
            <a:avLst/>
          </a:prstGeom>
          <a:solidFill>
            <a:srgbClr val="2E7F70"/>
          </a:solidFill>
          <a:ln w="12700">
            <a:solidFill>
              <a:srgbClr val="2E7F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89600" y="3175000"/>
            <a:ext cx="78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包一层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02400" y="1651000"/>
            <a:ext cx="5092700" cy="2717800"/>
          </a:xfrm>
          <a:prstGeom prst="roundRect">
            <a:avLst>
              <a:gd name="adj" fmla="val 1682"/>
            </a:avLst>
          </a:prstGeom>
          <a:solidFill>
            <a:srgbClr val="0E2A34"/>
          </a:solidFill>
          <a:ln w="9525">
            <a:solidFill>
              <a:srgbClr val="2E7F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43700" y="18542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新包装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43700" y="2209800"/>
            <a:ext cx="457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浏览器单页 + 标准库后端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43700" y="2565400"/>
            <a:ext cx="457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参数面板 + 四图 Canvas + 附加分析</a:t>
            </a: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只产出结构化参数操作</a:t>
            </a: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单文件离线版把整套东西压进 1.53 MB</a:t>
            </a: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求解器逐行移植，未换算法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6900" y="4724400"/>
            <a:ext cx="3479800" cy="838200"/>
          </a:xfrm>
          <a:prstGeom prst="roundRect">
            <a:avLst>
              <a:gd name="adj" fmla="val 5455"/>
            </a:avLst>
          </a:prstGeom>
          <a:solidFill>
            <a:srgbClr val="0C1B2E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" y="48768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不改方程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0100" y="51816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六状态 rhs 逐行照搬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05300" y="4724400"/>
            <a:ext cx="3479800" cy="838200"/>
          </a:xfrm>
          <a:prstGeom prst="roundRect">
            <a:avLst>
              <a:gd name="adj" fmla="val 5455"/>
            </a:avLst>
          </a:prstGeom>
          <a:solidFill>
            <a:srgbClr val="0C1B2E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08500" y="48768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不改积分格式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08500" y="51816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RKF4 + √2 系数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013700" y="4724400"/>
            <a:ext cx="3479800" cy="838200"/>
          </a:xfrm>
          <a:prstGeom prst="roundRect">
            <a:avLst>
              <a:gd name="adj" fmla="val 5455"/>
            </a:avLst>
          </a:prstGeom>
          <a:solidFill>
            <a:srgbClr val="0C1B2E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16900" y="48768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不改默认值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16900" y="51816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20000 / 12000 / 256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6900" y="6311900"/>
            <a:ext cx="1099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换算法很容易做出更漂亮的图，但那样就不是在验证原来那套代码了。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6900" y="3302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 FORM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6900" y="558800"/>
            <a:ext cx="1054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两种交付形态，同一套内核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6900" y="1346200"/>
            <a:ext cx="10998200" cy="0"/>
          </a:xfrm>
          <a:prstGeom prst="line">
            <a:avLst/>
          </a:prstGeom>
          <a:noFill/>
          <a:ln w="9525">
            <a:solidFill>
              <a:srgbClr val="2340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8200" y="508000"/>
            <a:ext cx="59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6900" y="1625600"/>
            <a:ext cx="5384800" cy="2997200"/>
          </a:xfrm>
          <a:prstGeom prst="roundRect">
            <a:avLst>
              <a:gd name="adj" fmla="val 1525"/>
            </a:avLst>
          </a:prstGeom>
          <a:solidFill>
            <a:srgbClr val="101E36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8200" y="18288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· 单文件离线版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38200" y="21844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ED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1.53 MB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38200" y="2667000"/>
            <a:ext cx="4826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双击即用，不需要 Python、不需要装环境</a:t>
            </a: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前端五个文件逐字节内联，一个字没改</a:t>
            </a: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只加了一个 fetch 拦截器，把 /api/*</a:t>
            </a: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接到本地实现，UI 不知道自己已经离线</a:t>
            </a: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全量 512 万步约 3 秒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23000" y="1625600"/>
            <a:ext cx="5372100" cy="2997200"/>
          </a:xfrm>
          <a:prstGeom prst="roundRect">
            <a:avLst>
              <a:gd name="adj" fmla="val 1525"/>
            </a:avLst>
          </a:prstGeom>
          <a:solidFill>
            <a:srgbClr val="101E36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300" y="18288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· Python 服务版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64300" y="21844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ED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localhost:8765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64300" y="2667000"/>
            <a:ext cx="4826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完整功能，含公网部署配置（Docker / HTTPS）</a:t>
            </a: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后端只用标准库 http.server，无框架</a:t>
            </a: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单任务串行、180 秒超时、15 MB 上限</a:t>
            </a: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同参数全量 512 万步约 61 秒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6900" y="4876800"/>
            <a:ext cx="10998200" cy="1168400"/>
          </a:xfrm>
          <a:prstGeom prst="roundRect">
            <a:avLst>
              <a:gd name="adj" fmla="val 3913"/>
            </a:avLst>
          </a:prstGeom>
          <a:solidFill>
            <a:srgbClr val="0E2A34"/>
          </a:solidFill>
          <a:ln w="9525">
            <a:solidFill>
              <a:srgbClr val="2E7F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200" y="5054600"/>
            <a:ext cx="1016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两条路必须算出同一组数，所以我做了逐字段对照。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8200" y="5384800"/>
            <a:ext cx="1016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快速试算 0 处不一致；2000 步内六个状态逐位相同；默认全量统计量差 0.03%。详见第 12 页。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6900" y="6311900"/>
            <a:ext cx="1099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单文件版的意义：评委拿到就能双击打开，不用先配环境。这是参赛场景下的硬需求。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6900" y="3302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6900" y="558800"/>
            <a:ext cx="1054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三层结构，AI 在最外面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6900" y="1346200"/>
            <a:ext cx="10998200" cy="0"/>
          </a:xfrm>
          <a:prstGeom prst="line">
            <a:avLst/>
          </a:prstGeom>
          <a:noFill/>
          <a:ln w="9525">
            <a:solidFill>
              <a:srgbClr val="2340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8200" y="508000"/>
            <a:ext cx="59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6900" y="1676400"/>
            <a:ext cx="3048000" cy="1168400"/>
          </a:xfrm>
          <a:prstGeom prst="roundRect">
            <a:avLst>
              <a:gd name="adj" fmla="val 3913"/>
            </a:avLst>
          </a:prstGeom>
          <a:solidFill>
            <a:srgbClr val="101E36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4700" y="1828800"/>
            <a:ext cx="269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浏览器单页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4700" y="2108200"/>
            <a:ext cx="2743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index / styles / main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analysis / assistant 五文件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无框架、无 CDN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06900" y="1676400"/>
            <a:ext cx="3048000" cy="1168400"/>
          </a:xfrm>
          <a:prstGeom prst="roundRect">
            <a:avLst>
              <a:gd name="adj" fmla="val 3913"/>
            </a:avLst>
          </a:prstGeom>
          <a:solidFill>
            <a:srgbClr val="101E36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4700" y="1828800"/>
            <a:ext cx="269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Python 标准库后端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84700" y="2108200"/>
            <a:ext cx="2743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app.py：路由 + 静态分发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allowed_request() 校验 Host / Origin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auth / LOCK / 180 秒超时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16900" y="1676400"/>
            <a:ext cx="3378200" cy="1168400"/>
          </a:xfrm>
          <a:prstGeom prst="roundRect">
            <a:avLst>
              <a:gd name="adj" fmla="val 3913"/>
            </a:avLst>
          </a:prstGeom>
          <a:solidFill>
            <a:srgbClr val="101E36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4700" y="1828800"/>
            <a:ext cx="302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计算与工作流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94700" y="2108200"/>
            <a:ext cx="3073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engine.py 主循环与统计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physics.py 原方程 + RKF4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ai_workflow.py 计划与解释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70300" y="2184400"/>
            <a:ext cx="685800" cy="152400"/>
          </a:xfrm>
          <a:prstGeom prst="rightArrow">
            <a:avLst/>
          </a:prstGeom>
          <a:solidFill>
            <a:srgbClr val="2E7F70"/>
          </a:solidFill>
          <a:ln w="12700">
            <a:solidFill>
              <a:srgbClr val="2E7F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80300" y="2184400"/>
            <a:ext cx="685800" cy="152400"/>
          </a:xfrm>
          <a:prstGeom prst="rightArrow">
            <a:avLst/>
          </a:prstGeom>
          <a:solidFill>
            <a:srgbClr val="2E7F70"/>
          </a:solidFill>
          <a:ln w="12700">
            <a:solidFill>
              <a:srgbClr val="2E7F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0300" y="24130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fetch POST /api/*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406900" y="3403600"/>
            <a:ext cx="3048000" cy="990600"/>
          </a:xfrm>
          <a:prstGeom prst="roundRect">
            <a:avLst>
              <a:gd name="adj" fmla="val 4615"/>
            </a:avLst>
          </a:prstGeom>
          <a:solidFill>
            <a:srgbClr val="0E1B2E"/>
          </a:solidFill>
          <a:ln w="9525">
            <a:solidFill>
              <a:srgbClr val="3A4E66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584700" y="3556000"/>
            <a:ext cx="269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模型（仅两件事）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84700" y="3835400"/>
            <a:ext cx="27432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把自然语言翻成参数操作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解释已算出的统计量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不产生数值、不执行代码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54700" y="2921000"/>
            <a:ext cx="152400" cy="431800"/>
          </a:xfrm>
          <a:prstGeom prst="upArrow">
            <a:avLst/>
          </a:prstGeom>
          <a:solidFill>
            <a:srgbClr val="3A4E66"/>
          </a:solidFill>
          <a:ln w="12700">
            <a:solidFill>
              <a:srgbClr val="3A4E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55000" y="3175000"/>
            <a:ext cx="254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两条硬约束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55000" y="3454400"/>
            <a:ext cx="3429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密钥只在页面内存，后端不落盘、不写日志</a:t>
            </a:r>
            <a:endParaRPr lang="en-US" sz="9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（log_message 被重写为空实现）</a:t>
            </a:r>
            <a:endParaRPr lang="en-US" sz="9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响应头带 CSP、X-Frame-Options: DENY、</a:t>
            </a:r>
            <a:endParaRPr lang="en-US" sz="9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nosniff、no-store；公网要求 HTTPS Origin</a:t>
            </a:r>
            <a:endParaRPr lang="en-US" sz="9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+ Basic 口令（≥16 字符）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6900" y="4902200"/>
            <a:ext cx="10998200" cy="1143000"/>
          </a:xfrm>
          <a:prstGeom prst="roundRect">
            <a:avLst>
              <a:gd name="adj" fmla="val 4000"/>
            </a:avLst>
          </a:prstGeom>
          <a:solidFill>
            <a:srgbClr val="0E2A34"/>
          </a:solidFill>
          <a:ln w="9525">
            <a:solidFill>
              <a:srgbClr val="2E7F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200" y="50800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不用 Flask / FastAPI 是刻意的。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38200" y="5384800"/>
            <a:ext cx="1016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为了让源码在只有标准库的环境也能跑起来。代价是路由和静态分发要自己写（app.py 第 66–69 行）。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6900" y="6311900"/>
            <a:ext cx="1099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对应文件：app.py / engine.py / physics.py / ai_workflow.py，均在 03_可运行Demo/服务版源码。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6900" y="3302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6900" y="558800"/>
            <a:ext cx="1054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内核是原方程，一个系数都没有改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6900" y="1346200"/>
            <a:ext cx="10998200" cy="0"/>
          </a:xfrm>
          <a:prstGeom prst="line">
            <a:avLst/>
          </a:prstGeom>
          <a:noFill/>
          <a:ln w="9525">
            <a:solidFill>
              <a:srgbClr val="2340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8200" y="508000"/>
            <a:ext cx="59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6900" y="1600200"/>
            <a:ext cx="6502400" cy="3632200"/>
          </a:xfrm>
          <a:prstGeom prst="roundRect">
            <a:avLst>
              <a:gd name="adj" fmla="val 1259"/>
            </a:avLst>
          </a:prstGeom>
          <a:solidFill>
            <a:srgbClr val="0B1A2E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8200" y="17780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physics.py — 六状态 rhs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38200" y="2082800"/>
            <a:ext cx="6096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F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dy1/dt =  y2</a:t>
            </a:r>
            <a:endParaRPr lang="en-US" sz="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F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dy2/dt = -2*e11*y2 + 2*e13*y6 - K11*FP + K13*FM - Ffp</a:t>
            </a:r>
            <a:endParaRPr lang="en-US" sz="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F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dy3/dt =  y4</a:t>
            </a:r>
            <a:endParaRPr lang="en-US" sz="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F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dy4/dt = -2*e22*y4 - 2*e23*y6 - K22*FG - K23*FM + Ffb</a:t>
            </a:r>
            <a:endParaRPr lang="en-US" sz="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F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dy5/dt =  y6</a:t>
            </a:r>
            <a:endParaRPr lang="en-US" sz="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F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dy6/dt = -2*e33*y6 - FM</a:t>
            </a:r>
            <a:endParaRPr lang="en-US" sz="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F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+ Fah*W^2*sin(W*t + Phih) + Ffm</a:t>
            </a:r>
            <a:endParaRPr lang="en-US" sz="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F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+ Fat*sin(W2*t + Phit) - dy2/dt + dy4/dt</a:t>
            </a:r>
            <a:endParaRPr lang="en-US" sz="950" dirty="0"/>
          </a:p>
          <a:p>
            <a:pPr algn="l" indent="0" marL="0">
              <a:lnSpc>
                <a:spcPct val="140000"/>
              </a:lnSpc>
              <a:buNone/>
            </a:pPr>
            <a:endParaRPr lang="en-US" sz="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F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 = y5-HG (y5 &gt;  HG)   FP = y1-Hb1 (y1 &gt;  Hb1)</a:t>
            </a:r>
            <a:endParaRPr lang="en-US" sz="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F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= y5+HG (y5 &lt; -HG)      = y1+Hb1 (y1 &lt; -Hb1)</a:t>
            </a:r>
            <a:endParaRPr lang="en-US" sz="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F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= 0     其余            = 0      其余      FG 同理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67600" y="1600200"/>
            <a:ext cx="254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积分格式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67600" y="1930400"/>
            <a:ext cx="406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四阶 Runge–Kutta，Fehlberg 的 √2 节点系数，</a:t>
            </a:r>
            <a:endParaRPr lang="en-US" sz="10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定步长 h = 2π/(Ω·NN)，NN 默认 256。</a:t>
            </a:r>
            <a:endParaRPr lang="en-US" sz="1000" dirty="0"/>
          </a:p>
          <a:p>
            <a:pPr algn="l" indent="0" marL="0">
              <a:lnSpc>
                <a:spcPct val="155000"/>
              </a:lnSpc>
              <a:buNone/>
            </a:pPr>
            <a:endParaRPr lang="en-US" sz="10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没有换成 RK45 自适应步长——一换，</a:t>
            </a:r>
            <a:endParaRPr lang="en-US" sz="10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结果就和原代码对不上了。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467600" y="3505200"/>
            <a:ext cx="4089400" cy="1727200"/>
          </a:xfrm>
          <a:prstGeom prst="roundRect">
            <a:avLst>
              <a:gd name="adj" fmla="val 2647"/>
            </a:avLst>
          </a:prstGeom>
          <a:solidFill>
            <a:srgbClr val="0E2A34"/>
          </a:solidFill>
          <a:ln w="9525">
            <a:solidFill>
              <a:srgbClr val="2E7F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96200" y="3657600"/>
            <a:ext cx="355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一个真踩过的坑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696200" y="3937000"/>
            <a:ext cx="3683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第三级两个系数是 0.5·(√2−1)，</a:t>
            </a:r>
            <a:endParaRPr lang="en-US" sz="9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 0.5·√2−1。</a:t>
            </a:r>
            <a:endParaRPr lang="en-US" sz="9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移植时抄错这一处，误差从第一步</a:t>
            </a:r>
            <a:endParaRPr lang="en-US" sz="9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就偏 50%，而且不报错。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6900" y="6311900"/>
            <a:ext cx="1099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对照文件：physics.py 第 46–86 行；单文件版为逐行移植，另见第 12 页数值对照。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6900" y="3302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6900" y="558800"/>
            <a:ext cx="1054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 个参数，两条入口，一个对象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6900" y="1346200"/>
            <a:ext cx="10998200" cy="0"/>
          </a:xfrm>
          <a:prstGeom prst="line">
            <a:avLst/>
          </a:prstGeom>
          <a:noFill/>
          <a:ln w="9525">
            <a:solidFill>
              <a:srgbClr val="2340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8200" y="508000"/>
            <a:ext cx="59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6900" y="16002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参数按物理含义分六组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6900" y="19558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0500" y="19558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Ω  Ω₂  φ  φ₂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53000" y="1955800"/>
            <a:ext cx="38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6900" y="2298700"/>
            <a:ext cx="4737100" cy="0"/>
          </a:xfrm>
          <a:prstGeom prst="line">
            <a:avLst/>
          </a:prstGeom>
          <a:noFill/>
          <a:ln w="6350">
            <a:solidFill>
              <a:srgbClr val="1628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6900" y="2413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阻尼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0500" y="24130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ε₁₁ ε₁₃ ε₂₂ ε₂₃ ε₃₃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53000" y="2413000"/>
            <a:ext cx="38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6900" y="2755900"/>
            <a:ext cx="4737100" cy="0"/>
          </a:xfrm>
          <a:prstGeom prst="line">
            <a:avLst/>
          </a:prstGeom>
          <a:noFill/>
          <a:ln w="6350">
            <a:solidFill>
              <a:srgbClr val="1628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6900" y="28702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刚度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0500" y="28702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K₁₁ K₁₃ K₂₂ K₂₃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53000" y="2870200"/>
            <a:ext cx="38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6900" y="3213100"/>
            <a:ext cx="4737100" cy="0"/>
          </a:xfrm>
          <a:prstGeom prst="line">
            <a:avLst/>
          </a:prstGeom>
          <a:noFill/>
          <a:ln w="6350">
            <a:solidFill>
              <a:srgbClr val="1628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6900" y="33274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力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60500" y="33274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Ffb Ffp Ffm Fat Fah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53000" y="3327400"/>
            <a:ext cx="38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6900" y="3670300"/>
            <a:ext cx="4737100" cy="0"/>
          </a:xfrm>
          <a:prstGeom prst="line">
            <a:avLst/>
          </a:prstGeom>
          <a:noFill/>
          <a:ln w="6350">
            <a:solidFill>
              <a:srgbClr val="1628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6900" y="37846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几何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60500" y="37846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HG  Hb1  Hb2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53000" y="3784600"/>
            <a:ext cx="38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6900" y="4127500"/>
            <a:ext cx="4737100" cy="0"/>
          </a:xfrm>
          <a:prstGeom prst="line">
            <a:avLst/>
          </a:prstGeom>
          <a:noFill/>
          <a:ln w="6350">
            <a:solidFill>
              <a:srgbClr val="1628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6900" y="42418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60500" y="42418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NT_total  NT_start  NN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53000" y="4241800"/>
            <a:ext cx="38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6900" y="4876800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后三个是计算规模，AI 无权修改。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5740400" y="1600200"/>
            <a:ext cx="5854700" cy="1498600"/>
          </a:xfrm>
          <a:prstGeom prst="roundRect">
            <a:avLst>
              <a:gd name="adj" fmla="val 3051"/>
            </a:avLst>
          </a:prstGeom>
          <a:solidFill>
            <a:srgbClr val="101E36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69000" y="17780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入口 B · 自然语言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69000" y="2082800"/>
            <a:ext cx="5461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「把主间隙调小 20%，再扫一遍频率」</a:t>
            </a:r>
            <a:endParaRPr lang="en-US" sz="9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{"patch":{"HG":1.04},"sweep":{…}} → 校验 → 本地求解 → 回填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740400" y="3302000"/>
            <a:ext cx="5854700" cy="1498600"/>
          </a:xfrm>
          <a:prstGeom prst="roundRect">
            <a:avLst>
              <a:gd name="adj" fmla="val 3051"/>
            </a:avLst>
          </a:prstGeom>
          <a:solidFill>
            <a:srgbClr val="101E36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69000" y="34798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入口 C · 文档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69000" y="3784600"/>
            <a:ext cx="5461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拖入文本 PDF / TXT / CSV / JSON，逐页提取。</a:t>
            </a:r>
            <a:endParaRPr lang="en-US" sz="9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参数必须带回原文页码；引文核对不上的，整条不落地。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6900" y="5334000"/>
            <a:ext cx="10998200" cy="660400"/>
          </a:xfrm>
          <a:prstGeom prst="roundRect">
            <a:avLst>
              <a:gd name="adj" fmla="val 6923"/>
            </a:avLst>
          </a:prstGeom>
          <a:solidFill>
            <a:srgbClr val="0E2A34"/>
          </a:solidFill>
          <a:ln w="9525">
            <a:solidFill>
              <a:srgbClr val="2E7F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8200" y="5511800"/>
            <a:ext cx="1054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三条入口写的是同一个参数对象：不存在"AI 一套、手动一套"的分裂。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96900" y="6311900"/>
            <a:ext cx="1099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参数表来自 02_项目文档/技术实现说明.md 第 4 节；手工入口即左上参数面板。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6900" y="3302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6900" y="558800"/>
            <a:ext cx="1054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的操作要过四道闸门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6900" y="1346200"/>
            <a:ext cx="10998200" cy="0"/>
          </a:xfrm>
          <a:prstGeom prst="line">
            <a:avLst/>
          </a:prstGeom>
          <a:noFill/>
          <a:ln w="9525">
            <a:solidFill>
              <a:srgbClr val="2340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8200" y="508000"/>
            <a:ext cx="59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6900" y="16256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70000" y="1625600"/>
            <a:ext cx="254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闸门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10000" y="1625600"/>
            <a:ext cx="492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判定规则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63000" y="1625600"/>
            <a:ext cx="134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不通过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160000" y="1625600"/>
            <a:ext cx="143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源码依据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6900" y="1905000"/>
            <a:ext cx="10998200" cy="0"/>
          </a:xfrm>
          <a:prstGeom prst="line">
            <a:avLst/>
          </a:prstGeom>
          <a:noFill/>
          <a:ln w="7620">
            <a:solidFill>
              <a:srgbClr val="2340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6900" y="1955800"/>
            <a:ext cx="10998200" cy="787400"/>
          </a:xfrm>
          <a:prstGeom prst="roundRect">
            <a:avLst>
              <a:gd name="adj" fmla="val 5806"/>
            </a:avLst>
          </a:prstGeom>
          <a:solidFill>
            <a:srgbClr val="0D1A2E"/>
          </a:solidFill>
          <a:ln w="6350">
            <a:solidFill>
              <a:srgbClr val="1628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6900" y="21336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70000" y="21336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参数白名单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10000" y="2108200"/>
            <a:ext cx="4927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键必须属于 24 个已知参数名，且不能是 NT_total / NT_start / NN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8763000" y="2133600"/>
            <a:ext cx="134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整条丢弃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10160000" y="2133600"/>
            <a:ext cx="1435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748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(!(k in RANGE))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6900" y="29972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70000" y="29972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数值合法性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10000" y="2971800"/>
            <a:ext cx="4927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必须是有限实数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8763000" y="2997200"/>
            <a:ext cx="134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丢弃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10160000" y="2997200"/>
            <a:ext cx="1435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748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isFinite(v)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96900" y="3683000"/>
            <a:ext cx="10998200" cy="787400"/>
          </a:xfrm>
          <a:prstGeom prst="roundRect">
            <a:avLst>
              <a:gd name="adj" fmla="val 5806"/>
            </a:avLst>
          </a:prstGeom>
          <a:solidFill>
            <a:srgbClr val="0D1A2E"/>
          </a:solidFill>
          <a:ln w="6350">
            <a:solidFill>
              <a:srgbClr val="1628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6900" y="38608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70000" y="38608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物理范围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10000" y="3835400"/>
            <a:ext cx="4927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阻尼 / 刚度 / 间隙非负；Ω 在 0.1–5；规模 10–40000 周期、32–512 步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8763000" y="3860800"/>
            <a:ext cx="134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拒绝并回显原因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10160000" y="3860800"/>
            <a:ext cx="1435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748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clamp(lo, hi)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96900" y="47244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70000" y="47244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计算规模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10000" y="4699000"/>
            <a:ext cx="4927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请求体 ≤15 MB，≤180 秒，扫频 6–60 点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8763000" y="4724400"/>
            <a:ext cx="134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超时终止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10160000" y="4724400"/>
            <a:ext cx="1435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748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REQUEST_DEADLINE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96900" y="5562600"/>
            <a:ext cx="10998200" cy="558800"/>
          </a:xfrm>
          <a:prstGeom prst="roundRect">
            <a:avLst>
              <a:gd name="adj" fmla="val 8182"/>
            </a:avLst>
          </a:prstGeom>
          <a:solidFill>
            <a:srgbClr val="0E2A34"/>
          </a:solidFill>
          <a:ln w="9525">
            <a:solidFill>
              <a:srgbClr val="2E7F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8200" y="5702300"/>
            <a:ext cx="1054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四道全过，才会真正调用求解器；算完把三项统计量回填，模型才被允许解释。顺序不能倒。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6900" y="6311900"/>
            <a:ext cx="1099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 02_项目文档/技术实现说明.md 第 6 节；单文件版把同一套逻辑照搬进浏览器。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6900" y="3302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6900" y="558800"/>
            <a:ext cx="1054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拒绝比接受重要：三个真实拦截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6900" y="1346200"/>
            <a:ext cx="10998200" cy="0"/>
          </a:xfrm>
          <a:prstGeom prst="line">
            <a:avLst/>
          </a:prstGeom>
          <a:noFill/>
          <a:ln w="9525">
            <a:solidFill>
              <a:srgbClr val="2340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8200" y="508000"/>
            <a:ext cx="59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6900" y="1651000"/>
            <a:ext cx="3479800" cy="2641600"/>
          </a:xfrm>
          <a:prstGeom prst="roundRect">
            <a:avLst>
              <a:gd name="adj" fmla="val 1731"/>
            </a:avLst>
          </a:prstGeom>
          <a:solidFill>
            <a:srgbClr val="101E36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5500" y="18288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参数名不在白名单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5500" y="2159000"/>
            <a:ext cx="1041400" cy="254000"/>
          </a:xfrm>
          <a:prstGeom prst="roundRect">
            <a:avLst>
              <a:gd name="adj" fmla="val 7200"/>
            </a:avLst>
          </a:prstGeom>
          <a:solidFill>
            <a:srgbClr val="0E2A34"/>
          </a:solidFill>
          <a:ln w="9525">
            <a:solidFill>
              <a:srgbClr val="E970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5500" y="21590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970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5500" y="2540000"/>
            <a:ext cx="3022600" cy="558800"/>
          </a:xfrm>
          <a:prstGeom prst="roundRect">
            <a:avLst>
              <a:gd name="adj" fmla="val 8182"/>
            </a:avLst>
          </a:prstGeom>
          <a:solidFill>
            <a:srgbClr val="0A1626"/>
          </a:solidFill>
          <a:ln w="9525">
            <a:solidFill>
              <a:srgbClr val="1B30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" y="2616200"/>
            <a:ext cx="279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F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{"patch":{"damping":0.05}}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5500" y="3251200"/>
            <a:ext cx="3048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damping 不是 24 个参数名之一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整条丢弃，对话区不出现"已应用"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05300" y="1651000"/>
            <a:ext cx="3479800" cy="2641600"/>
          </a:xfrm>
          <a:prstGeom prst="roundRect">
            <a:avLst>
              <a:gd name="adj" fmla="val 1731"/>
            </a:avLst>
          </a:prstGeom>
          <a:solidFill>
            <a:srgbClr val="101E36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3900" y="18288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数值超出物理范围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33900" y="2159000"/>
            <a:ext cx="1041400" cy="254000"/>
          </a:xfrm>
          <a:prstGeom prst="roundRect">
            <a:avLst>
              <a:gd name="adj" fmla="val 7200"/>
            </a:avLst>
          </a:prstGeom>
          <a:solidFill>
            <a:srgbClr val="0E2A34"/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33900" y="21590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CLAMPED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33900" y="2540000"/>
            <a:ext cx="3022600" cy="558800"/>
          </a:xfrm>
          <a:prstGeom prst="roundRect">
            <a:avLst>
              <a:gd name="adj" fmla="val 8182"/>
            </a:avLst>
          </a:prstGeom>
          <a:solidFill>
            <a:srgbClr val="0A1626"/>
          </a:solidFill>
          <a:ln w="9525">
            <a:solidFill>
              <a:srgbClr val="1B30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0900" y="2616200"/>
            <a:ext cx="279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F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{"patch":{"Epsilon33":0.9}}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33900" y="3251200"/>
            <a:ext cx="3048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ε₃₃ 合法区间 0.001 ~ 0.2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夹紧到 0.2，回报 (0.9→0.2)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13700" y="1651000"/>
            <a:ext cx="3479800" cy="2641600"/>
          </a:xfrm>
          <a:prstGeom prst="roundRect">
            <a:avLst>
              <a:gd name="adj" fmla="val 1731"/>
            </a:avLst>
          </a:prstGeom>
          <a:solidFill>
            <a:srgbClr val="101E36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42300" y="18288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想改计算规模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42300" y="2159000"/>
            <a:ext cx="1041400" cy="254000"/>
          </a:xfrm>
          <a:prstGeom prst="roundRect">
            <a:avLst>
              <a:gd name="adj" fmla="val 7200"/>
            </a:avLst>
          </a:prstGeom>
          <a:solidFill>
            <a:srgbClr val="0E2A34"/>
          </a:solidFill>
          <a:ln w="9525">
            <a:solidFill>
              <a:srgbClr val="E970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42300" y="21590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970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42300" y="2540000"/>
            <a:ext cx="3022600" cy="558800"/>
          </a:xfrm>
          <a:prstGeom prst="roundRect">
            <a:avLst>
              <a:gd name="adj" fmla="val 8182"/>
            </a:avLst>
          </a:prstGeom>
          <a:solidFill>
            <a:srgbClr val="0A1626"/>
          </a:solidFill>
          <a:ln w="9525">
            <a:solidFill>
              <a:srgbClr val="1B30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9300" y="2616200"/>
            <a:ext cx="279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F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{"patch":{"NT_total":100}}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242300" y="3251200"/>
            <a:ext cx="3048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NT_total 在白名单外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无权降低积分规模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6900" y="4597400"/>
            <a:ext cx="10998200" cy="1092200"/>
          </a:xfrm>
          <a:prstGeom prst="roundRect">
            <a:avLst>
              <a:gd name="adj" fmla="val 4186"/>
            </a:avLst>
          </a:prstGeom>
          <a:solidFill>
            <a:srgbClr val="0E2A34"/>
          </a:solidFill>
          <a:ln w="9525">
            <a:solidFill>
              <a:srgbClr val="2E7F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8200" y="4775200"/>
            <a:ext cx="635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宁可什么都不改，也不要悄悄改。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8200" y="5156200"/>
            <a:ext cx="10541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对话区永远两行：已应用了什么、被拒绝或夹紧的是什么。用户看到的是完整动作记录，不是一句"好的，已为您调整"。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6900" y="6311900"/>
            <a:ext cx="1099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三个场景取自白名单与范围校验的真实分支，为规则说明，不是模型输出样本。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6900" y="3302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6900" y="558800"/>
            <a:ext cx="1054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一次求解，四张图，三项统计量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6900" y="1346200"/>
            <a:ext cx="10998200" cy="0"/>
          </a:xfrm>
          <a:prstGeom prst="line">
            <a:avLst/>
          </a:prstGeom>
          <a:noFill/>
          <a:ln w="9525">
            <a:solidFill>
              <a:srgbClr val="2340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8200" y="508000"/>
            <a:ext cx="59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</p:txBody>
      </p:sp>
      <p:pic>
        <p:nvPicPr>
          <p:cNvPr id="6" name="Image 0" descr="C:/Users/cyc/AppData/Local/Temp/v3shot/rc_pl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0400" y="1498600"/>
            <a:ext cx="5600700" cy="472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6900" y="16002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每张图都有明确用途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96900" y="19304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时域响应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6900" y="2184400"/>
            <a:ext cx="469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y5 全时段，按 ceil(点数/2200) 抽样</a:t>
            </a:r>
            <a:endParaRPr lang="en-US" sz="920" dirty="0"/>
          </a:p>
        </p:txBody>
      </p:sp>
      <p:sp>
        <p:nvSpPr>
          <p:cNvPr id="10" name="Text 7"/>
          <p:cNvSpPr/>
          <p:nvPr/>
        </p:nvSpPr>
        <p:spPr>
          <a:xfrm>
            <a:off x="596900" y="26162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频谱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6900" y="2870200"/>
            <a:ext cx="469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去均值 → Hann 窗 → rfft → 按频率分箱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596900" y="33020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相平面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6900" y="3556000"/>
            <a:ext cx="469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末 8 个周期的连续积分点，非全局抽样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596900" y="39878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庞加莱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6900" y="4241800"/>
            <a:ext cx="469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 NN 步取一次 (y5, y6)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596900" y="4724400"/>
            <a:ext cx="4889500" cy="1498600"/>
          </a:xfrm>
          <a:prstGeom prst="roundRect">
            <a:avLst>
              <a:gd name="adj" fmla="val 3051"/>
            </a:avLst>
          </a:prstGeom>
          <a:solidFill>
            <a:srgbClr val="0E2A34"/>
          </a:solidFill>
          <a:ln w="9525">
            <a:solidFill>
              <a:srgbClr val="2E7F7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8200" y="49022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相图这一处改过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38200" y="5181600"/>
            <a:ext cx="444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2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早期版本对全时段等距抽样，抽到的点跨几十个</a:t>
            </a:r>
            <a:endParaRPr lang="en-US" sz="92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2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周期，连起来像一团乱麻。现在固定取末段连续</a:t>
            </a:r>
            <a:endParaRPr lang="en-US" sz="92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2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积分点，并在图上注明"未作稳态判定"。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596900" y="6299200"/>
            <a:ext cx="1099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截图为本机默认参数（20000 / 12000 / 256）全量运行；底部三项统计量为 204.8 万个采样点的结果。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6900" y="3302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6900" y="558800"/>
            <a:ext cx="1054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结果要能带走：四种附加分析、PNG、CSV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6900" y="1346200"/>
            <a:ext cx="10998200" cy="0"/>
          </a:xfrm>
          <a:prstGeom prst="line">
            <a:avLst/>
          </a:prstGeom>
          <a:noFill/>
          <a:ln w="9525">
            <a:solidFill>
              <a:srgbClr val="2340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8200" y="508000"/>
            <a:ext cx="59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6900" y="1625600"/>
            <a:ext cx="5384800" cy="2540000"/>
          </a:xfrm>
          <a:prstGeom prst="roundRect">
            <a:avLst>
              <a:gd name="adj" fmla="val 1800"/>
            </a:avLst>
          </a:prstGeom>
          <a:solidFill>
            <a:srgbClr val="101E36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8200" y="18288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附加分析（四选一）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38200" y="2184400"/>
            <a:ext cx="482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加速度时程：由原方程再求一次导</a:t>
            </a: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分窗 RMS：24 段滑窗，看包络起伏</a:t>
            </a: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位移分布：24 桶直方图</a:t>
            </a: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自相关：末段信号，看周期结构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23000" y="1625600"/>
            <a:ext cx="5372100" cy="2540000"/>
          </a:xfrm>
          <a:prstGeom prst="roundRect">
            <a:avLst>
              <a:gd name="adj" fmla="val 1800"/>
            </a:avLst>
          </a:prstGeom>
          <a:solidFill>
            <a:srgbClr val="101E36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300" y="18288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64300" y="2184400"/>
            <a:ext cx="49276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PNG：默认 6×4 英寸 / 600 DPI（3600×2400）</a:t>
            </a: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四张图可分别设 X/Y 范围后单独导出</a:t>
            </a: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CSV：204.8 万个数据点全量带出</a:t>
            </a: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图注写明抽样方式，避免脱离上下文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6900" y="4419600"/>
            <a:ext cx="10998200" cy="1371600"/>
          </a:xfrm>
          <a:prstGeom prst="roundRect">
            <a:avLst>
              <a:gd name="adj" fmla="val 3333"/>
            </a:avLst>
          </a:prstGeom>
          <a:solidFill>
            <a:srgbClr val="0E2A34"/>
          </a:solidFill>
          <a:ln w="9525">
            <a:solidFill>
              <a:srgbClr val="2E7F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8200" y="4597400"/>
            <a:ext cx="635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为什么较真到 DPI 和坐标范围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8200" y="4953000"/>
            <a:ext cx="10541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因为论文和答辩材料要的是可直接用的图。默认导出的图分辨率不够、坐标轴范围不一致，最后还得回 MATLAB 重画——那就失去了"算完即得"的意义。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6900" y="59690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导出面板在界面上是一级入口，不是藏在菜单里。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6900" y="6311900"/>
            <a:ext cx="1099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对应代码：analysis.js（附加分析与 pngWithDpi）、engine.py 的 exportPoints。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6900" y="3302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6900" y="558800"/>
            <a:ext cx="1054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单文件版和 Python 版，算的是同一组数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6900" y="1346200"/>
            <a:ext cx="10998200" cy="0"/>
          </a:xfrm>
          <a:prstGeom prst="line">
            <a:avLst/>
          </a:prstGeom>
          <a:noFill/>
          <a:ln w="9525">
            <a:solidFill>
              <a:srgbClr val="2340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8200" y="508000"/>
            <a:ext cx="59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6900" y="1524000"/>
            <a:ext cx="1092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同一台机器、同一组参数，浏览器（V8）与 Python 各跑一次，逐字段比对。相对误差 &gt;1e-10 记为不一致。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6900" y="1854200"/>
            <a:ext cx="317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比对项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771900" y="1854200"/>
            <a:ext cx="304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Python 服务版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19900" y="1854200"/>
            <a:ext cx="266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单文件浏览器版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486900" y="1854200"/>
            <a:ext cx="190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6900" y="2108200"/>
            <a:ext cx="10795000" cy="0"/>
          </a:xfrm>
          <a:prstGeom prst="line">
            <a:avLst/>
          </a:prstGeom>
          <a:noFill/>
          <a:ln w="7620">
            <a:solidFill>
              <a:srgbClr val="2340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6900" y="2159000"/>
            <a:ext cx="10795000" cy="457200"/>
          </a:xfrm>
          <a:prstGeom prst="roundRect">
            <a:avLst>
              <a:gd name="adj" fmla="val 10000"/>
            </a:avLst>
          </a:prstGeom>
          <a:solidFill>
            <a:srgbClr val="0E2A34"/>
          </a:solidFill>
          <a:ln w="9525">
            <a:solidFill>
              <a:srgbClr val="2E7F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000" y="22352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RMS（快速试算 3840 点）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71900" y="2235200"/>
            <a:ext cx="298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1.3929455813320966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819900" y="2235200"/>
            <a:ext cx="260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1.392945581332101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486900" y="22352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 处不一致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6900" y="2692400"/>
            <a:ext cx="10795000" cy="457200"/>
          </a:xfrm>
          <a:prstGeom prst="roundRect">
            <a:avLst>
              <a:gd name="adj" fmla="val 10000"/>
            </a:avLst>
          </a:prstGeom>
          <a:solidFill>
            <a:srgbClr val="0E2A34"/>
          </a:solidFill>
          <a:ln w="9525">
            <a:solidFill>
              <a:srgbClr val="2E7F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000" y="27686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逐状态比对（1/2/10/100/1000/2000 步）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71900" y="2768600"/>
            <a:ext cx="298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819900" y="2768600"/>
            <a:ext cx="260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486900" y="27686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相对误差 0.00e+0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6900" y="3225800"/>
            <a:ext cx="10795000" cy="457200"/>
          </a:xfrm>
          <a:prstGeom prst="roundRect">
            <a:avLst>
              <a:gd name="adj" fmla="val 10000"/>
            </a:avLst>
          </a:prstGeom>
          <a:solidFill>
            <a:srgbClr val="0E2A34"/>
          </a:solidFill>
          <a:ln w="9525">
            <a:solidFill>
              <a:srgbClr val="2E7F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00" y="33020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换一组强非线性参数 RMS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71900" y="3302000"/>
            <a:ext cx="298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1.3296297163127362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819900" y="3302000"/>
            <a:ext cx="260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1.3296297163127349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486900" y="33020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 处不一致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2000" y="38354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默认全量 512 万步 RMS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71900" y="3835400"/>
            <a:ext cx="298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1.3834257956101714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819900" y="3835400"/>
            <a:ext cx="260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1.38301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486900" y="38354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 0.03%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62000" y="43688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默认全量 512 万步 主频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771900" y="4368800"/>
            <a:ext cx="298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0.15915494309189535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19900" y="4368800"/>
            <a:ext cx="260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0.15915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486900" y="43688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一致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6900" y="4978400"/>
            <a:ext cx="5384800" cy="1168400"/>
          </a:xfrm>
          <a:prstGeom prst="roundRect">
            <a:avLst>
              <a:gd name="adj" fmla="val 3913"/>
            </a:avLst>
          </a:prstGeom>
          <a:solidFill>
            <a:srgbClr val="101E36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8200" y="51308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那 0.03% 是哪来的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8200" y="5410200"/>
            <a:ext cx="482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2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不是算法差异。2000 步内两条轨迹逐位相同，</a:t>
            </a:r>
            <a:endParaRPr lang="en-US" sz="92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2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积分到 19 万步时已彻底错开，但统计窗口</a:t>
            </a:r>
            <a:endParaRPr lang="en-US" sz="92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2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拉到 8000 周期，RMS 又收敛回 0.03%。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6223000" y="4978400"/>
            <a:ext cx="5372100" cy="1168400"/>
          </a:xfrm>
          <a:prstGeom prst="roundRect">
            <a:avLst>
              <a:gd name="adj" fmla="val 3913"/>
            </a:avLst>
          </a:prstGeom>
          <a:solidFill>
            <a:srgbClr val="101E36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64300" y="51308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根因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64300" y="5410200"/>
            <a:ext cx="492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2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Math.sin 与 libm 在 t 累积到 10⁵ 量级时对自变量的</a:t>
            </a:r>
            <a:endParaRPr lang="en-US" sz="92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2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约简差 1 ULP；分段非线性把它指数放大成相位漂移。</a:t>
            </a:r>
            <a:endParaRPr lang="en-US" sz="92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2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这本身说明系统对初值敏感，不是缺陷。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596900" y="6311900"/>
            <a:ext cx="1099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完整对照见 04_测试与截图/数值一致性验证.md，含可复现命令。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6900" y="3302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SURROGATE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6900" y="558800"/>
            <a:ext cx="1054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代理模型可以推荐，但没有资格下定论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6900" y="1346200"/>
            <a:ext cx="10998200" cy="0"/>
          </a:xfrm>
          <a:prstGeom prst="line">
            <a:avLst/>
          </a:prstGeom>
          <a:noFill/>
          <a:ln w="9525">
            <a:solidFill>
              <a:srgbClr val="2340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8200" y="508000"/>
            <a:ext cx="59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6900" y="1625600"/>
            <a:ext cx="5080000" cy="2489200"/>
          </a:xfrm>
          <a:prstGeom prst="roundRect">
            <a:avLst>
              <a:gd name="adj" fmla="val 1837"/>
            </a:avLst>
          </a:prstGeom>
          <a:solidFill>
            <a:srgbClr val="101E36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8200" y="182880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RBF 核岭回归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38200" y="2184400"/>
            <a:ext cx="462280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34 组仿真样本，27 训练 / 9 独立留出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只调第三阻尼 ε₃₃，外部激励保持不变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训练范围：Ω 0.7–1.3、f 0.02–0.12、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ε₃₃ 0.02–0.08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3 折交叉验证；随机数用 mulberry32 固定种子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23000" y="1727200"/>
            <a:ext cx="279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指标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52000" y="1727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23000" y="2159000"/>
            <a:ext cx="5372100" cy="508000"/>
          </a:xfrm>
          <a:prstGeom prst="roundRect">
            <a:avLst>
              <a:gd name="adj" fmla="val 9000"/>
            </a:avLst>
          </a:prstGeom>
          <a:solidFill>
            <a:srgbClr val="101E36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1600" y="22987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RBF 测试 MAE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52000" y="2260600"/>
            <a:ext cx="165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0.021875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23000" y="2743200"/>
            <a:ext cx="5372100" cy="508000"/>
          </a:xfrm>
          <a:prstGeom prst="roundRect">
            <a:avLst>
              <a:gd name="adj" fmla="val 9000"/>
            </a:avLst>
          </a:prstGeom>
          <a:solidFill>
            <a:srgbClr val="101E36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1600" y="28829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均值基线 MAE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52000" y="2844800"/>
            <a:ext cx="165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0.029162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23000" y="3327400"/>
            <a:ext cx="5372100" cy="508000"/>
          </a:xfrm>
          <a:prstGeom prst="roundRect">
            <a:avLst>
              <a:gd name="adj" fmla="val 9000"/>
            </a:avLst>
          </a:prstGeom>
          <a:solidFill>
            <a:srgbClr val="0C1B2E"/>
          </a:solidFill>
          <a:ln w="9525">
            <a:solidFill>
              <a:srgbClr val="5A4A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51600" y="34671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推荐复算 RMS 改善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52000" y="3429000"/>
            <a:ext cx="165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−0.50%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23000" y="4064000"/>
            <a:ext cx="5372100" cy="939800"/>
          </a:xfrm>
          <a:prstGeom prst="roundRect">
            <a:avLst>
              <a:gd name="adj" fmla="val 4865"/>
            </a:avLst>
          </a:prstGeom>
          <a:solidFill>
            <a:srgbClr val="0E2A34"/>
          </a:solidFill>
          <a:ln w="9525">
            <a:solidFill>
              <a:srgbClr val="2E7F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4300" y="4216400"/>
            <a:ext cx="482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代理模型学得动，但推荐未必有用。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64300" y="4495800"/>
            <a:ext cx="492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2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MAE 0.0219 好于均值基线 0.0292，说明确实学到了映射；</a:t>
            </a:r>
            <a:endParaRPr lang="en-US" sz="92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2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但推荐参数回灌复算，RMS 改善是负的。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596900" y="4419600"/>
            <a:ext cx="10998200" cy="1371600"/>
          </a:xfrm>
          <a:prstGeom prst="roundRect">
            <a:avLst>
              <a:gd name="adj" fmla="val 3333"/>
            </a:avLst>
          </a:prstGeom>
          <a:solidFill>
            <a:srgbClr val="0E2A34"/>
          </a:solidFill>
          <a:ln w="9525">
            <a:solidFill>
              <a:srgbClr val="2E7F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8200" y="4597400"/>
            <a:ext cx="889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每一条推荐都回灌原始方程复算，失败的那条也留着。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38200" y="4953000"/>
            <a:ext cx="10541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删掉这条负结果，这个模块看起来会更漂亮，但它就不再有可信度了。科研工具的价值不在"每次都成功"，在"失败你也看得见"。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6900" y="6311900"/>
            <a:ext cx="1099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数据来源：04_测试与截图/数据/示例AI实验结果.json（本机单次实验），不可外推为工程效果。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6900" y="3302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6900" y="558800"/>
            <a:ext cx="1054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现场三分钟怎么演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6900" y="1346200"/>
            <a:ext cx="10998200" cy="0"/>
          </a:xfrm>
          <a:prstGeom prst="line">
            <a:avLst/>
          </a:prstGeom>
          <a:noFill/>
          <a:ln w="9525">
            <a:solidFill>
              <a:srgbClr val="2340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8200" y="508000"/>
            <a:ext cx="59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50" dirty="0"/>
          </a:p>
        </p:txBody>
      </p:sp>
      <p:pic>
        <p:nvPicPr>
          <p:cNvPr id="6" name="Image 0" descr="C:/Users/cyc/AppData/Local/Temp/v3shot/rc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4800" y="1524000"/>
            <a:ext cx="3327400" cy="415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6900" y="1625600"/>
            <a:ext cx="25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1600200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打开单文件版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1841500"/>
            <a:ext cx="419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双击图标，不需要环境，不需要网络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96900" y="2311400"/>
            <a:ext cx="25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2286000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点"运行物理仿真"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2527300"/>
            <a:ext cx="419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默认 512 万步，浏览器内约 3 秒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6900" y="2997200"/>
            <a:ext cx="25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" y="2971800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看三个数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3213100"/>
            <a:ext cx="419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RMS / 峰值 / 主频，来自本次计算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96900" y="3683000"/>
            <a:ext cx="25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14400" y="3657600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改一组参数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14400" y="3898900"/>
            <a:ext cx="419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手动面板或说一句话，都能改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96900" y="4368800"/>
            <a:ext cx="25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" y="4343400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看四张图变化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14400" y="4584700"/>
            <a:ext cx="419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相图在末段，不在全时段抽样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96900" y="5054600"/>
            <a:ext cx="25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14400" y="5029200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14400" y="5270500"/>
            <a:ext cx="419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PNG 600 DPI 或 CSV 全量数据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6900" y="5740400"/>
            <a:ext cx="10998200" cy="330200"/>
          </a:xfrm>
          <a:prstGeom prst="roundRect">
            <a:avLst>
              <a:gd name="adj" fmla="val 13846"/>
            </a:avLst>
          </a:prstGeom>
          <a:solidFill>
            <a:srgbClr val="0E2A34"/>
          </a:solidFill>
          <a:ln w="9525">
            <a:solidFill>
              <a:srgbClr val="2E7F7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38200" y="5803900"/>
            <a:ext cx="1054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刻意演"改参数 → 重新算 → 数变了"这一圈，而不是演一个漂亮的结果。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96900" y="6197600"/>
            <a:ext cx="1099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界面为 振动AI实验助手.html 本机实际运行截图。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6900" y="3302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6900" y="558800"/>
            <a:ext cx="1054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边界写在界面上，不留在口头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6900" y="1346200"/>
            <a:ext cx="10998200" cy="0"/>
          </a:xfrm>
          <a:prstGeom prst="line">
            <a:avLst/>
          </a:prstGeom>
          <a:noFill/>
          <a:ln w="9525">
            <a:solidFill>
              <a:srgbClr val="2340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8200" y="508000"/>
            <a:ext cx="59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6900" y="1524000"/>
            <a:ext cx="63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这一版明确不做的四件事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6900" y="1854200"/>
            <a:ext cx="5308600" cy="1346200"/>
          </a:xfrm>
          <a:prstGeom prst="roundRect">
            <a:avLst>
              <a:gd name="adj" fmla="val 3396"/>
            </a:avLst>
          </a:prstGeom>
          <a:solidFill>
            <a:srgbClr val="101E36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5500" y="2006600"/>
            <a:ext cx="482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不判混沌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5500" y="2336800"/>
            <a:ext cx="4826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8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 Lyapunov 计算，不给分岔类型结论。</a:t>
            </a:r>
            <a:endParaRPr lang="en-US" sz="98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98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庞加莱图只画点，不自动判周期或混沌。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286500" y="1854200"/>
            <a:ext cx="5308600" cy="1346200"/>
          </a:xfrm>
          <a:prstGeom prst="roundRect">
            <a:avLst>
              <a:gd name="adj" fmla="val 3396"/>
            </a:avLst>
          </a:prstGeom>
          <a:solidFill>
            <a:srgbClr val="101E36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5100" y="2006600"/>
            <a:ext cx="482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不标单位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15100" y="2336800"/>
            <a:ext cx="4826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8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单位未标定，全部数据来自仿真。</a:t>
            </a:r>
            <a:endParaRPr lang="en-US" sz="98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98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统计量是相对量，不能直接换算成工程值。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96900" y="3403600"/>
            <a:ext cx="5308600" cy="1346200"/>
          </a:xfrm>
          <a:prstGeom prst="roundRect">
            <a:avLst>
              <a:gd name="adj" fmla="val 3396"/>
            </a:avLst>
          </a:prstGeom>
          <a:solidFill>
            <a:srgbClr val="101E36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500" y="3556000"/>
            <a:ext cx="482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不出结论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5500" y="3886200"/>
            <a:ext cx="4826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8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不输出工程安全结论。</a:t>
            </a:r>
            <a:endParaRPr lang="en-US" sz="98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98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有限时长结果不等于已收敛的稳态。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286500" y="3403600"/>
            <a:ext cx="5308600" cy="1346200"/>
          </a:xfrm>
          <a:prstGeom prst="roundRect">
            <a:avLst>
              <a:gd name="adj" fmla="val 3396"/>
            </a:avLst>
          </a:prstGeom>
          <a:solidFill>
            <a:srgbClr val="101E36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5100" y="3556000"/>
            <a:ext cx="482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不建方程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15100" y="3886200"/>
            <a:ext cx="4826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8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不做有限元、不做三维接触分析、</a:t>
            </a:r>
            <a:endParaRPr lang="en-US" sz="98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98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不自动生成新方程、不做扫描 PDF 的 OCR。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596900" y="5029200"/>
            <a:ext cx="10998200" cy="1117600"/>
          </a:xfrm>
          <a:prstGeom prst="roundRect">
            <a:avLst>
              <a:gd name="adj" fmla="val 4091"/>
            </a:avLst>
          </a:prstGeom>
          <a:solidFill>
            <a:srgbClr val="0E2A34"/>
          </a:solidFill>
          <a:ln w="9525">
            <a:solidFill>
              <a:srgbClr val="2E7F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8200" y="52070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界面上有一行常驻提示，不是藏在说明文档里：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8200" y="5511800"/>
            <a:ext cx="1054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「研究边界：无真实设备数据或单位标定，不作混沌判定及工程安全结论。」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8200" y="5816600"/>
            <a:ext cx="1054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有限时长结果不等于已收敛的稳态；请增加仿真周期并减小步长复核。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6900" y="6311900"/>
            <a:ext cx="1099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这句话直接对应单文件版界面底部的 notice 元素。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6900" y="3302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6900" y="558800"/>
            <a:ext cx="1054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交付包，和三条不跨的线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6900" y="1346200"/>
            <a:ext cx="10998200" cy="0"/>
          </a:xfrm>
          <a:prstGeom prst="line">
            <a:avLst/>
          </a:prstGeom>
          <a:noFill/>
          <a:ln w="9525">
            <a:solidFill>
              <a:srgbClr val="2340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8200" y="508000"/>
            <a:ext cx="59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6900" y="1600200"/>
            <a:ext cx="6705600" cy="3327400"/>
          </a:xfrm>
          <a:prstGeom prst="roundRect">
            <a:avLst>
              <a:gd name="adj" fmla="val 1374"/>
            </a:avLst>
          </a:prstGeom>
          <a:solidFill>
            <a:srgbClr val="0B1A2E"/>
          </a:solidFill>
          <a:ln w="9525">
            <a:solidFill>
              <a:srgbClr val="2340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8200" y="1778000"/>
            <a:ext cx="609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9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振动AI实验助手-最终交付v3/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38200" y="2108200"/>
            <a:ext cx="241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F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00_提交说明.md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24200" y="2108200"/>
            <a:ext cx="317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8200" y="2400300"/>
            <a:ext cx="241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F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01_汇报PPT/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24200" y="2400300"/>
            <a:ext cx="317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汇报PPT-v3.pptx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8200" y="2692400"/>
            <a:ext cx="241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F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02_项目文档/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24200" y="2692400"/>
            <a:ext cx="317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安装 · 部署 · 技术实现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50000" y="26924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份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8200" y="2984500"/>
            <a:ext cx="241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F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24200" y="2984500"/>
            <a:ext cx="317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演示讲稿 · 开源调研 · 项目简介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8200" y="3276600"/>
            <a:ext cx="241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F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03_可运行Demo/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24200" y="3276600"/>
            <a:ext cx="317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单文件版（1.53 MB）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8200" y="3568700"/>
            <a:ext cx="241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F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124200" y="3568700"/>
            <a:ext cx="317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服务版源码 + Docker / Caddy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8200" y="3860800"/>
            <a:ext cx="241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F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04_测试与截图/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124200" y="3860800"/>
            <a:ext cx="317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界面截图 · 数值对照 · 验证记录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8200" y="4152900"/>
            <a:ext cx="241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F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05_授权与依赖/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24200" y="4152900"/>
            <a:ext cx="317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第三方许可 · NOTICE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8200" y="4546600"/>
            <a:ext cx="609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全部可离线复现：文档、源码、测试、截图、许可一一对应。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747000" y="16002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三条不跨的线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47000" y="1981200"/>
            <a:ext cx="20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026400" y="1930400"/>
            <a:ext cx="355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不判混沌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026400" y="2286000"/>
            <a:ext cx="3683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 Lyapunov，不给分岔类型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747000" y="2971800"/>
            <a:ext cx="20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026400" y="2921000"/>
            <a:ext cx="355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不标单位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026400" y="3276600"/>
            <a:ext cx="3683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单位未标定，数据全来自仿真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747000" y="3962400"/>
            <a:ext cx="20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026400" y="3911600"/>
            <a:ext cx="355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EDF4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不出结论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026400" y="4267200"/>
            <a:ext cx="3683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不输出工程安全结论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6900" y="5156200"/>
            <a:ext cx="10998200" cy="0"/>
          </a:xfrm>
          <a:prstGeom prst="line">
            <a:avLst/>
          </a:prstGeom>
          <a:noFill/>
          <a:ln w="9525">
            <a:solidFill>
              <a:srgbClr val="2340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6900" y="5384800"/>
            <a:ext cx="1092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49E2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没有算过的结论，一个字都不写。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96900" y="5867400"/>
            <a:ext cx="1092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B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能给的是一个算得对、查得到、说得清边界的实验台；不能给的是它还没算出来的东西。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6900" y="6248400"/>
            <a:ext cx="1092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86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 / 姓名 / 学校：待填写真实信息　·　github.com/ahzszq/vibration-ai-assistant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振动 AI · 实验助手 · 参赛汇报 v3</dc:title>
  <dc:subject>PptxGenJS Presentation</dc:subject>
  <dc:creator>zq</dc:creator>
  <cp:lastModifiedBy>zq</cp:lastModifiedBy>
  <cp:revision>1</cp:revision>
  <dcterms:created xsi:type="dcterms:W3CDTF">2026-10-20T06:20:55Z</dcterms:created>
  <dcterms:modified xsi:type="dcterms:W3CDTF">2026-10-20T06:20:55Z</dcterms:modified>
</cp:coreProperties>
</file>