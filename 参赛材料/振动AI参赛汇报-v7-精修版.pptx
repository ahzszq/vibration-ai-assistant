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 · 30 秒开场】这是把一段已经在用的六状态非线性动力学代码，包装成一个能点、能核对、能导出的实验台；曲线由原方程和原积分格式算出来，没有用代理模型替代。</a:t>
            </a:r>
          </a:p>
          <a:p>
            <a:r>
              <a:t>【依据】参赛名称、团队信息沿用 v4 原稿；模型来自用户提供的源码。</a:t>
            </a:r>
          </a:p>
          <a:p>
            <a:r>
              <a:t>【别说】不要说“全新算法”“替代专业软件”，定位是“同一份算法的可用化包装”。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【讲】先讲痛点，三条都来自我们自己跑实验的过程：参数散在代码里要反复改、结果和图分开存导致复核混乱、出图分辨率不统一要返工。这一页回答“为什么做”，不是功能清单。</a:t>
            </a:r>
          </a:p>
          <a:p>
            <a:r>
              <a:t>【应答】如果问“和一段 MATLAB 脚本差在哪”：差在参数校验、结果可追溯、白底矢量图导出这三件事，算法本身没变。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【讲】方案一句话：在浏览器里完成参数设置、数值求解、结果整理。两种操作共用一套参数；AI 只输出参数补丁，求解永远在本地原模型上跑。</a:t>
            </a:r>
          </a:p>
          <a:p>
            <a:r>
              <a:t>【依据】main.js、assistant.js、physics.py。</a:t>
            </a:r>
          </a:p>
          <a:p>
            <a:r>
              <a:t>【别说】不要说“AI 生成了曲线”——AI 不产生任何数值，也不执行代码。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【讲】交付两种形态：单文件网页（双击即用、可离线）和 Python 服务版（后端求解、带部署配置）。左边是真实工作台截图，不是效果图。</a:t>
            </a:r>
          </a:p>
          <a:p>
            <a:r>
              <a:t>【依据】截图来自快速试算：100 周期、60 周期后输出、每周期 96 步，**不是默认全量结果**——这句要主动点出来，否则容易被追问数据来源。</a:t>
            </a:r>
          </a:p>
          <a:p>
            <a:r>
              <a:t>【补充】AI 功能另需模型服务地址、密钥和网络。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【讲】现场四步、约一分钟：载入快速试算配置 → 运行仿真 → 看三个统计量 → 导出白底图。评委可以自己上手动一遍。</a:t>
            </a:r>
          </a:p>
          <a:p>
            <a:r>
              <a:t>【依据】README 的「30 秒看效果」，以及站内 9 步教程（guide.js）。</a:t>
            </a:r>
          </a:p>
          <a:p>
            <a:r>
              <a:t>【别说】不要承诺“3 秒跑完全量”——原稿的 3 秒宣传已按实测取消，改成“快速试算几秒出图，全量耗时随机器和参数变化”。</a:t>
            </a:r>
          </a:p>
          <a:p>
            <a:r>
              <a:t>【兜底】现场网络不稳时直接用单文件版，离线可跑。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【讲】四种输入方式共用同一套参数：手动调参、自然语言、文件导入、实验计划。24 个参数分组显示，可一键恢复原代码默认值。</a:t>
            </a:r>
          </a:p>
          <a:p>
            <a:r>
              <a:t>【依据】assistant.js、ai_workflow.py。</a:t>
            </a:r>
          </a:p>
          <a:p>
            <a:r>
              <a:t>【边界】文本 PDF 需要文字层，扫描件不算已支持 OCR；模型只在已实现的参数与动作范围内工作，越界会拒绝而不是猜。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【讲】一次求解出四张图：时域、功率谱、相轨线、庞加莱截面。时域是输出段落抽样显示；相轨线默认 y5–y6（y6 就是 dy5/dt）；庞加莱按激励周期采样；功率谱去均值、Hann 窗、单边密度标度。</a:t>
            </a:r>
          </a:p>
          <a:p>
            <a:r>
              <a:t>【别说】不要指着图说“这是混沌”或“已经稳定”——图只画点，不自动下结论。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【讲】出图是刚需：PNG 白底可设 DPI（默认 6×4 英寸、600 DPI；范围 72–1200 DPI，同时受 2400 万像素上限约束，不能把两个最大值同时拉满），SVG 可缩放，五类图都支持，坐标范围和字号可调。</a:t>
            </a:r>
          </a:p>
          <a:p>
            <a:r>
              <a:t>【边界】论文能不能用还要核对单位、字号和目标期刊规范，不说“直接可投”。</a:t>
            </a:r>
          </a:p>
          <a:p>
            <a:r>
              <a:t>【补充】CSV 区分“图表数据”和“运行结果”两种导出。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【讲】算法没改：六状态方程、位移与速度关系、分段间隙力 FM/FP/FG，含 √2 系数的定步长四阶积分，h = 2π/(Ωeh×NN)。</a:t>
            </a:r>
          </a:p>
          <a:p>
            <a:r>
              <a:t>【依据】physics.py 的 Solver.F 与 Solver.RK4。</a:t>
            </a:r>
          </a:p>
          <a:p>
            <a:r>
              <a:t>【别说】不要叫它“Fehlberg”——这个归类在 v4 里已经删掉；保留原实现也不等于完成了物理验证，步长收敛要另说。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【讲】一套算法两种环境：浏览器端跑同一份前端代码，服务端跑 Python 原版积分器，中间共享的是方程与积分格式。</a:t>
            </a:r>
          </a:p>
          <a:p>
            <a:r>
              <a:t>【关键句】单文件版不是另写一套算法——五个前端文件逐字节内联，只加一个 fetch 拦截器，把页面的 /api/* 请求接到浏览器本地实现，UI 代码不知道自己已经不在服务端。</a:t>
            </a:r>
          </a:p>
          <a:p>
            <a:r>
              <a:t>【依据】README「两种交付形态」一节。</a:t>
            </a:r>
          </a:p>
          <a:p>
            <a:r>
              <a:t>【应答】如果问“为什么不干脆用后端”：评委和同学拿到就能双击打开，不用装 Python。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【讲】AI 这一层只做三件事：解释需求、给结构化参数补丁、把文档里的参数带来源地提出来。补丁必须过四道闸门：参数白名单、数值合法性、物理范围、计算规模。</a:t>
            </a:r>
          </a:p>
          <a:p>
            <a:r>
              <a:t>【边界】密钥只存在页面内存，不落盘、不写日志；文件只当输入资料，不覆盖用户指令，也不会自动变成可信操作。</a:t>
            </a:r>
          </a:p>
          <a:p>
            <a:r>
              <a:t>【别说】不要报“解析准确率”——目前只验证流程跑得通，没评测真实服务商模型的准确率。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【讲】两个版本算的是同一组数：快速试算 RMS 1.3929455813320966 与 1.392945581332101，绝对峰值和主频逐位相同；默认长时积分 RMS 差约 0.03%。</a:t>
            </a:r>
          </a:p>
          <a:p>
            <a:r>
              <a:t>【依据】原始默认值验证.json 与已有验证记录；2000 步内逐步状态逐位相同。</a:t>
            </a:r>
          </a:p>
          <a:p>
            <a:r>
              <a:t>【别说】不要断言 0.03% 一定来自 sin 舍入——现有证据不足以唯一定位误差来源，v4 里已把这个归因删掉。</a:t>
            </a:r>
          </a:p>
          <a:p>
            <a:r>
              <a:t>【收口】跨版本接近 ≠ 步长收敛，更 ≠ 实测验证。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【讲】验证做了哪些、没做哪些，都用仓库里的文件兜底，不靠口头承诺：解析解对照、步长灵敏度、时长灵敏度、导出与教程端到端实测，分别对应 validation/ 下的 CSV 与报告。</a:t>
            </a:r>
          </a:p>
          <a:p>
            <a:r>
              <a:t>【策略】主动把“没做的”说出来（实测数据对照、扫描件 OCR、混沌判定），比被评委问出来更好。</a:t>
            </a:r>
          </a:p>
          <a:p>
            <a:r>
              <a:t>【应答】问“数据可不可信”：答“两个版本互相一致、有解析解对照；但还没有实测数据标定单位，这点写在 README 的边界里”。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【讲】附加分析给了最大有限时间李雅普诺夫指数（Benettin 双轨迹重标定）和关联维数参考曲线，另有分窗 RMS、分布、自相关。窗口最长 8 个激励周期，初始扰动 1e-8，每约 1/4 周期重标定，两条轨迹用相同外部激励。</a:t>
            </a:r>
          </a:p>
          <a:p>
            <a:r>
              <a:t>【别说】短窗口不保证方向收敛，不能当作已收敛的最大渐近指数，更不能当混沌证明；关联维数受尺度区间、采样和投影影响，不是严格维数。</a:t>
            </a:r>
          </a:p>
          <a:p>
            <a:r>
              <a:t>【依据】engine.py、analysis.js。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【讲】价值分三层：研究与组会演示、论文材料整理、后续把实测对照和部署补上。</a:t>
            </a:r>
          </a:p>
          <a:p>
            <a:r>
              <a:t>【诚实项】效率和用户规模都还没有量化，不要说“提升十倍”这类没测过的数字。</a:t>
            </a:r>
          </a:p>
          <a:p>
            <a:r>
              <a:t>【补充】扫描 PDF 的 OCR、实测对照、公共服务运营都属于后续方向，不是已完成功能。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 · 收尾 10 秒】一句话重申定位：可核对、可导出的动力学实验台；报队名，给在线演示地址。</a:t>
            </a:r>
          </a:p>
          <a:p>
            <a:r>
              <a:t>【准备三个高频提问】能不能替代 ADAMS/有限元——不能，不做接触与三维；是不是真混沌——不判定，只给有限时间指数；数据可信吗——两版一致且有解析解对照，但没有实测标定。</a:t>
            </a:r>
          </a:p>
          <a:p>
            <a:r>
              <a:t>【时间】留 30 秒提问；超时就直接跳到第 13 页“没做什么”。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6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2026 武汉 1024 人工智能创新应用黑客松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47088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振动 AI 实验助手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45536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面向非线性动力学的浏览器仿真实验台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自然语言与手动调参，仿真分析与论文出图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882896"/>
            <a:ext cx="5212080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02352"/>
            <a:ext cx="6858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科研创新赛道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Team Falcons 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38528"/>
            <a:ext cx="3154680" cy="2578608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139696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   个可调参数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44368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   维状态方程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749039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   类基础动力学图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01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项目问题：调参、核对结果与出图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83664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191109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874519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参数修改费时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参数散落在代码中，反复对比实验需要多次修改和运行。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36976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64992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33924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355848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结果缺少上下文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图形、参数与统计量分开保存，后续复核容易混淆。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18304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46320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8737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837176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论文出图需要返工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截图分辨率与坐标格式不统一，还要回到绘图软件整理。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02 · 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项目方案：一个可操作的仿真实验台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在浏览器中完成参数设置、数值求解和结果整理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40864"/>
            <a:ext cx="10634472" cy="1426464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50292" cy="1170432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49631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459736"/>
            <a:ext cx="945489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同一套参数，支持两种操作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手动修改参数，或用自然语言提出实验需求。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31920"/>
            <a:ext cx="10634472" cy="1426464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59935"/>
            <a:ext cx="50292" cy="1170432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3" y="4087368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050791"/>
            <a:ext cx="9454896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解释需求，本地求解器计算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参数经校验后进入原动力学模型，结果来自实际积分。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504688"/>
            <a:ext cx="10634472" cy="566928"/>
          </a:xfrm>
          <a:prstGeom prst="roundRect">
            <a:avLst>
              <a:gd name="adj" fmla="val 12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5605272"/>
            <a:ext cx="50292" cy="365760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504688"/>
            <a:ext cx="101315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深色界面查看结果，白底 PNG / SVG 用于文档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03 ·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交付方式：单文件网页与 Python 服务版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04 / 16</a:t>
            </a:r>
          </a:p>
        </p:txBody>
      </p:sp>
      <p:pic>
        <p:nvPicPr>
          <p:cNvPr id="7" name="Picture 6" descr="s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4208"/>
            <a:ext cx="6720840" cy="4370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82127" y="1682496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单文件网页版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2121408"/>
            <a:ext cx="35295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浏览器本地仿真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可离线调整参数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2127" y="3127248"/>
            <a:ext cx="3529584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3346704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Python 服务版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3785615"/>
            <a:ext cx="35295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提供后端求解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含部署配置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44768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AI 功能需配置模型服务与密钥，并连接网络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04 · 现场演示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评委现场可复现的四步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344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约一分钟跑完一次实验，全程在浏览器里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2542032" cy="2487168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1031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9626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载入配置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419856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点「快速试算配置」，把默认全量降到数千点。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75104"/>
            <a:ext cx="2542032" cy="2487168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21031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9626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运行仿真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4" y="3419856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点「运行物理仿真」，积分在本地完成。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75104"/>
            <a:ext cx="2542032" cy="2487168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1031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9626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看三个数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419856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RMS、绝对峰值、主频，再对照四张图。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975104"/>
            <a:ext cx="2542032" cy="2487168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210312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9626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导出成图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3419856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白底 PNG 可设 DPI，也可导出 SVG 与 CSV。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28032"/>
            <a:ext cx="10634472" cy="585216"/>
          </a:xfrm>
          <a:prstGeom prst="roundRect">
            <a:avLst>
              <a:gd name="adj" fmla="val 12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928616"/>
            <a:ext cx="50292" cy="384048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828032"/>
            <a:ext cx="10131552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不需要注册、不需要安装 Python、不需要 API 密钥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14416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快速试算默认 3840 点；全量 512 万积分步的耗时随机器与参数变化，现场只演示快速试算。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05 · 输入方式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四种输入方式，共用同一套参数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19072"/>
            <a:ext cx="5221224" cy="168249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47088"/>
            <a:ext cx="50292" cy="142646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187451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837943"/>
            <a:ext cx="4160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手动调参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24 个参数分组显示，支持恢复原代码默认值和快速试算。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19072"/>
            <a:ext cx="5221224" cy="168249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847088"/>
            <a:ext cx="50292" cy="142646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87451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1837943"/>
            <a:ext cx="4160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自然语言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直接描述实验需求，参数修改经校验后进入求解。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84448"/>
            <a:ext cx="5221224" cy="168249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712463"/>
            <a:ext cx="50292" cy="142646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3739896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703320"/>
            <a:ext cx="4160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文件导入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解析文本 PDF、TXT、CSV、JSON，核对后应用参数。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584448"/>
            <a:ext cx="5221224" cy="168249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712463"/>
            <a:ext cx="50292" cy="142646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3739896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3703320"/>
            <a:ext cx="4160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实验计划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多组实验计划与扫频任务，可批量提交。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59552"/>
            <a:ext cx="1063447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660136"/>
            <a:ext cx="50292" cy="347472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559552"/>
            <a:ext cx="101315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连续提问窗口可收起，仿真工作区保持主要位置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06 · 结果可视化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一次求解，四类基础动力学图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07 / 16</a:t>
            </a:r>
          </a:p>
        </p:txBody>
      </p:sp>
      <p:pic>
        <p:nvPicPr>
          <p:cNvPr id="7" name="Picture 6" descr="s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645920"/>
            <a:ext cx="722376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487168" y="5870448"/>
            <a:ext cx="1691640" cy="384048"/>
          </a:xfrm>
          <a:prstGeom prst="roundRect">
            <a:avLst>
              <a:gd name="adj" fmla="val 18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58704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时域图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5870448"/>
            <a:ext cx="1691640" cy="384048"/>
          </a:xfrm>
          <a:prstGeom prst="roundRect">
            <a:avLst>
              <a:gd name="adj" fmla="val 18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58704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功率谱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5870448"/>
            <a:ext cx="1691640" cy="384048"/>
          </a:xfrm>
          <a:prstGeom prst="roundRect">
            <a:avLst>
              <a:gd name="adj" fmla="val 18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58704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相轨线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5870448"/>
            <a:ext cx="1691640" cy="384048"/>
          </a:xfrm>
          <a:prstGeom prst="roundRect">
            <a:avLst>
              <a:gd name="adj" fmla="val 18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5870448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庞加莱截面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07 · 论文出图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论文出图：白底 PNG 与 SVG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08 / 16</a:t>
            </a:r>
          </a:p>
        </p:txBody>
      </p:sp>
      <p:pic>
        <p:nvPicPr>
          <p:cNvPr id="7" name="Picture 6" descr="s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00784"/>
            <a:ext cx="61722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1700784"/>
            <a:ext cx="6172200" cy="411480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737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图像完整导出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16368" y="2231136"/>
            <a:ext cx="3895344" cy="1426464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2395728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PNG 可设置 DPI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2743200"/>
            <a:ext cx="3895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默认 6 × 4 英寸 · 600 DPI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16368" y="3840480"/>
            <a:ext cx="3895344" cy="1426464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4005072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spc="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SVG 可缩放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4352544"/>
            <a:ext cx="38953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五类图均支持 · 坐标范围、字号可调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61888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网页继续使用深色配色，导出图像统一白底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08 · 数值实现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数值实现：保留原六状态动力学模型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0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位移与速度关系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38528"/>
            <a:ext cx="10634472" cy="658368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33619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dy1/dt = y2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3504" y="1938528"/>
            <a:ext cx="33619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dy3/dt = y4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8328" y="1938528"/>
            <a:ext cx="336194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dy5/dt = y6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0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非线性来自分段间隙力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106344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FM、FP、FG 根据位移与间隙阈值分段计算。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03904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0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数值积分格式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34256"/>
            <a:ext cx="106344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保持原代码含 √2 系数的固定步长四阶积分格式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65776"/>
            <a:ext cx="10634472" cy="713232"/>
          </a:xfrm>
          <a:prstGeom prst="roundRect">
            <a:avLst>
              <a:gd name="adj" fmla="val 12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95E59"/>
                </a:solidFill>
                <a:latin typeface="微软雅黑"/>
                <a:ea typeface="微软雅黑"/>
                <a:cs typeface="微软雅黑"/>
              </a:rPr>
              <a:t>h = 2π / (Ωeh × NN)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09 ·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一套算法，两种运行环境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浏览器端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404872"/>
            <a:ext cx="2880360" cy="11887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69464"/>
            <a:ext cx="29077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参数面板、四图渲染、导出。前端五个文件内联进单个 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78308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96596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共享算法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4296" y="2404872"/>
            <a:ext cx="2880360" cy="11887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569464"/>
            <a:ext cx="29077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六状态方程与定步长四阶积分，JS 与 Python 各一份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783080"/>
            <a:ext cx="3429000" cy="233172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96596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Python 服务端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2" y="2404872"/>
            <a:ext cx="2880360" cy="11887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569464"/>
            <a:ext cx="290779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标准库 http.server 后端求解，含 Docker 与 Render 配置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07408"/>
            <a:ext cx="10634472" cy="786384"/>
          </a:xfrm>
          <a:prstGeom prst="roundRect">
            <a:avLst>
              <a:gd name="adj" fmla="val 12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507992"/>
            <a:ext cx="50292" cy="585216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407408"/>
            <a:ext cx="101315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单文件版不是另写一套算法：前端五个文件逐字节内联，只加一个 fetch 拦截器把 /api/* 接到浏览器本地实现。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13248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UI 代码不知道自己已经不在服务端——所以两种形态的界面、参数、图完全一致。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10 · AI 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配置与可追溯执行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83664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191109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874519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用户自行配置模型服务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输入服务地址、密钥与模型名称，支持连续提问。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36976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64992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33924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355848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参数修改经过校验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检查参数名称、数值与范围，显示实际应用或拒绝的修改。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18304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46320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8737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837176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文档参数保留来源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查看提取内容和来源证据，核对后再进入实验。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11 · 两版一致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结果核验与适用边界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344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快速试算 RMS：两个版本结果在显示精度内接近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93392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Python 服务版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96312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1.3929455813320966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993392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14884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单文件浏览器版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96312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1.392945581332101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75887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31335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Python 服务版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78807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1.3834258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675887"/>
            <a:ext cx="5166360" cy="1097280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831335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单文件浏览器版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4178807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1.38301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18688"/>
            <a:ext cx="106344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默认长时积分 RMS：存在约 0.03% 的历史差异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02352"/>
            <a:ext cx="10634472" cy="658368"/>
          </a:xfrm>
          <a:prstGeom prst="roundRect">
            <a:avLst>
              <a:gd name="adj" fmla="val 12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02936"/>
            <a:ext cx="50292" cy="457200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102352"/>
            <a:ext cx="101315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跨版本接近不能替代步长收敛与实验数据验证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12 · 验证记录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验证做了哪些，没做哪些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10634472" cy="402336"/>
          </a:xfrm>
          <a:prstGeom prst="roundRect">
            <a:avLst>
              <a:gd name="adj" fmla="val 6000"/>
            </a:avLst>
          </a:prstGeom>
          <a:solidFill>
            <a:srgbClr val="E8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64208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95E59"/>
                </a:solidFill>
                <a:latin typeface="微软雅黑"/>
                <a:ea typeface="微软雅黑"/>
                <a:cs typeface="微软雅黑"/>
              </a:rPr>
              <a:t>验证项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64208"/>
            <a:ext cx="7315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95E59"/>
                </a:solidFill>
                <a:latin typeface="微软雅黑"/>
                <a:ea typeface="微软雅黑"/>
                <a:cs typeface="微软雅黑"/>
              </a:rPr>
              <a:t>做法与证据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031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解析解对照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03120"/>
            <a:ext cx="7406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与解析解逐点比较，脚本与数据见 validation/analytic.csv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5"/>
            <a:ext cx="10634472" cy="1188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步长灵敏度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44368"/>
            <a:ext cx="7406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改变每周期步数 NN，观察 RMS 与主频变化，见 validation/step_sensitivity.csv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712463"/>
            <a:ext cx="10634472" cy="1188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85615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时长灵敏度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85615"/>
            <a:ext cx="7406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改变输出时长，观察统计量漂移，见 validation/duration_sensitivity.csv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553712"/>
            <a:ext cx="10634472" cy="1188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导出与教程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626864"/>
            <a:ext cx="7406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站内 9 步教程与导出流程端到端实测，见 validation/导出与教程验证.md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394960"/>
            <a:ext cx="10634472" cy="11887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541264"/>
            <a:ext cx="10634472" cy="530352"/>
          </a:xfrm>
          <a:prstGeom prst="roundRect">
            <a:avLst>
              <a:gd name="adj" fmla="val 12000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641848"/>
            <a:ext cx="50292" cy="32918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541264"/>
            <a:ext cx="101315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没做的同样写明：没有实测数据对照，没有扫描件 OCR，不自动判定混沌。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13 · 附加分析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附加分析：李雅普诺夫指数与关联维数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  <p:pic>
        <p:nvPicPr>
          <p:cNvPr id="7" name="Picture 6" descr="s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682496"/>
            <a:ext cx="10058400" cy="3099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956048"/>
            <a:ext cx="106344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05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最大有限时间李雅普诺夫指数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关联维数参考曲线、分窗 RMS、分布与自相关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79008"/>
            <a:ext cx="10634472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879592"/>
            <a:ext cx="50292" cy="292608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779008"/>
            <a:ext cx="10131552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用于辅助诊断，暂不自动判定混沌或严格分形维数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34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8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14 · 价值与展望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应用价值与后续改进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4472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振动 AI 实验助手 · 科研创新赛道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82512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83664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191109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874519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研究与组会演示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调整参数并对比图形，保留参数和结果，减少重复操作。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36976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64992"/>
            <a:ext cx="50292" cy="1060704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33924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355848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论文材料整理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导出白底图像与数据，统一坐标和格式。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718304"/>
            <a:ext cx="10634472" cy="1316736"/>
          </a:xfrm>
          <a:prstGeom prst="roundRect">
            <a:avLst>
              <a:gd name="adj" fmla="val 5000"/>
            </a:avLst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46320"/>
            <a:ext cx="50292" cy="10607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3" y="48737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837176"/>
            <a:ext cx="94548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下一步工作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补充步长收敛与实测对照，改进扫描文档识别和共享部署。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7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10512"/>
            <a:ext cx="8412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072384"/>
            <a:ext cx="4754880" cy="1188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28416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振动 AI 实验助手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41648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科研创新赛道</a:t>
            </a:r>
          </a:p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单文件网页 + Python 服务版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2414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谭星（队长）、黄林、刘诗阳、曹艺成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572414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在线演示   </a:t>
            </a:r>
            <a:r>
              <a:rPr sz="1200" b="0">
                <a:solidFill>
                  <a:srgbClr val="0B7F78"/>
                </a:solidFill>
                <a:latin typeface="微软雅黑"/>
                <a:ea typeface="微软雅黑"/>
                <a:cs typeface="微软雅黑"/>
              </a:rPr>
              <a:t>ahzszq.github.io/vibration-ai-assistant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